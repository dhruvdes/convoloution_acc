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8_1CF378D5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65" r:id="rId2"/>
    <p:sldId id="264" r:id="rId3"/>
    <p:sldId id="266" r:id="rId4"/>
    <p:sldId id="267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91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6" r:id="rId22"/>
    <p:sldId id="285" r:id="rId23"/>
    <p:sldId id="290" r:id="rId24"/>
    <p:sldId id="28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C7D6375-DA67-987E-432A-D3FDAF7FD3F7}" name="Dhruv Deshmukh" initials="DD" userId="18723954aaf001d2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modernComment_108_1CF378D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03C7A23-E6F1-4D7F-9D0E-26E8172A71EB}" authorId="{1C7D6375-DA67-987E-432A-D3FDAF7FD3F7}" created="2026-05-09T00:02:24.052">
    <pc:sldMkLst xmlns:pc="http://schemas.microsoft.com/office/powerpoint/2013/main/command">
      <pc:docMk/>
      <pc:sldMk cId="485718229" sldId="264"/>
    </pc:sldMkLst>
    <p188:txBody>
      <a:bodyPr/>
      <a:lstStyle/>
      <a:p>
        <a:r>
          <a:rPr lang="en-US"/>
          <a:t>I guess this flow is good. Open to changes for better flow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A365F7-A6BC-4623-AC8D-0686D1909B5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994532-8590-47AD-9F55-46130BC0C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40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994532-8590-47AD-9F55-46130BC0C3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708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4DE69-157A-506F-7621-95075C7FE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7D3C51-3496-AEA7-06A4-D2EDC425F1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25DCE5-488B-5485-B96A-26B4474BA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BA014-215F-0AE1-8E76-F26F46081D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994532-8590-47AD-9F55-46130BC0C34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37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10AC1-1B8F-1C03-F877-DD0F18F7F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800D3-810D-DAB7-2A74-C2474FA68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EEB357-FBEB-B7A4-505E-0A14304EA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21463-561A-8DF7-A379-A31EE3843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994532-8590-47AD-9F55-46130BC0C34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769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2E961-2DD6-6E0F-12DA-6058FCBD6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82222-7F9D-36D5-521F-ADFC6CE79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EDF3FD-D103-C5C9-4481-E2A93BB10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0AE84-C227-DCE8-7870-55AD5CA897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994532-8590-47AD-9F55-46130BC0C34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987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148EB-85CC-DA2A-CE94-EC149CBE1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2A69C7-18D1-E56F-CE7C-CCD82F0928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F7F06-D80A-CDB6-8F84-BE0862B9CE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2C1FA-5B21-8395-AA0D-91D8A00CFD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994532-8590-47AD-9F55-46130BC0C34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742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0E8853D3-2B83-4B9A-8694-4567BD694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148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/>
              <a:t> 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853D3-2B83-4B9A-8694-4567BD694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348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0E8853D3-2B83-4B9A-8694-4567BD694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577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853D3-2B83-4B9A-8694-4567BD694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632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853D3-2B83-4B9A-8694-4567BD694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450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853D3-2B83-4B9A-8694-4567BD694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62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0E8853D3-2B83-4B9A-8694-4567BD69451E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91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388F50AA-517D-4861-90A7-4DA90AEB324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E8853D3-2B83-4B9A-8694-4567BD694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229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388F50AA-517D-4861-90A7-4DA90AEB324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853D3-2B83-4B9A-8694-4567BD694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451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853D3-2B83-4B9A-8694-4567BD694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95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388F50AA-517D-4861-90A7-4DA90AEB324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853D3-2B83-4B9A-8694-4567BD694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622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0E8853D3-2B83-4B9A-8694-4567BD69451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872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8_1CF378D5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github.com/DhruvDes/Convoloution_ACC/blob/main/sw/Results/testbench_log.txt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hruvDes/Convoloution_ACC/blob/main/sw/Benchmark_Arm_and_Acclerator_after_implimentation.ipynb" TargetMode="Externa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122E5-242E-91C8-4D84-FE120002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2D Convolution Accelerator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4FC30C-D855-E8B4-B504-901826FEBC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A single channel 2D Convolution accelerator for the PYNQ-Z2.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pPr>
              <a:buFont typeface="Wingdings" panose="05000000000000000000" pitchFamily="2" charset="2"/>
              <a:buChar char="q"/>
            </a:pPr>
            <a:r>
              <a:rPr lang="en-US"/>
              <a:t> Dhruv Deshmukh (dad10090)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/>
              <a:t> Luka Kitamura (lk3283)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/>
              <a:t> Faiza Zahin Tasfia (ft2335)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03FC977-C804-23DA-5BEA-AFC27990EC6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874" y="1598682"/>
            <a:ext cx="4571511" cy="4487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365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9C8319-9A8D-F27E-3630-36AD77AC0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4DC5F7-8389-429D-1054-107FAF7B3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/>
              <a:t> Introduction to 2D convolution</a:t>
            </a:r>
          </a:p>
          <a:p>
            <a:r>
              <a:rPr lang="en-US"/>
              <a:t> Architecture</a:t>
            </a:r>
          </a:p>
          <a:p>
            <a:r>
              <a:rPr lang="en-US"/>
              <a:t> Verification. A </a:t>
            </a:r>
          </a:p>
          <a:p>
            <a:r>
              <a:rPr lang="en-US"/>
              <a:t> BD Implementation </a:t>
            </a:r>
          </a:p>
          <a:p>
            <a:r>
              <a:rPr lang="en-US"/>
              <a:t> Verification. B </a:t>
            </a:r>
          </a:p>
          <a:p>
            <a:r>
              <a:rPr lang="en-US"/>
              <a:t> Benchmarking </a:t>
            </a:r>
          </a:p>
          <a:p>
            <a:r>
              <a:rPr lang="en-US"/>
              <a:t> Device Demo</a:t>
            </a:r>
          </a:p>
          <a:p>
            <a:r>
              <a:rPr lang="en-US"/>
              <a:t> Future Improvements </a:t>
            </a:r>
          </a:p>
          <a:p>
            <a:pPr marL="0" indent="0">
              <a:buNone/>
            </a:pPr>
            <a:r>
              <a:rPr lang="en-US"/>
              <a:t> 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822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EF458-A54B-DE80-417F-6A72A23E4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2D Convolution</a:t>
            </a:r>
          </a:p>
        </p:txBody>
      </p:sp>
      <p:pic>
        <p:nvPicPr>
          <p:cNvPr id="4" name="Content Placeholder 3" descr="A screenshot of a math equation&#10;&#10;AI-generated content may be incorrect.">
            <a:extLst>
              <a:ext uri="{FF2B5EF4-FFF2-40B4-BE49-F238E27FC236}">
                <a16:creationId xmlns:a16="http://schemas.microsoft.com/office/drawing/2014/main" id="{DFB361A6-4C8E-5651-8827-F79FE498D6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05" r="13525" b="16019"/>
          <a:stretch>
            <a:fillRect/>
          </a:stretch>
        </p:blipFill>
        <p:spPr>
          <a:xfrm>
            <a:off x="1895345" y="2512867"/>
            <a:ext cx="8150022" cy="2187617"/>
          </a:xfrm>
          <a:prstGeom prst="rect">
            <a:avLst/>
          </a:prstGeom>
        </p:spPr>
      </p:pic>
      <p:pic>
        <p:nvPicPr>
          <p:cNvPr id="6" name="Picture 5" descr="A close-up of a sign&#10;&#10;AI-generated content may be incorrect.">
            <a:extLst>
              <a:ext uri="{FF2B5EF4-FFF2-40B4-BE49-F238E27FC236}">
                <a16:creationId xmlns:a16="http://schemas.microsoft.com/office/drawing/2014/main" id="{CCB1B8B3-CED9-1D62-06DD-407A5A42E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71447"/>
            <a:ext cx="12192000" cy="6614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A37357-5064-6695-9813-41D2D2CAA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677" y="1494875"/>
            <a:ext cx="12192000" cy="549862"/>
          </a:xfrm>
          <a:prstGeom prst="rect">
            <a:avLst/>
          </a:prstGeom>
        </p:spPr>
      </p:pic>
      <p:pic>
        <p:nvPicPr>
          <p:cNvPr id="9" name="Picture 8" descr="A close-up of a math equation&#10;&#10;AI-generated content may be incorrect.">
            <a:extLst>
              <a:ext uri="{FF2B5EF4-FFF2-40B4-BE49-F238E27FC236}">
                <a16:creationId xmlns:a16="http://schemas.microsoft.com/office/drawing/2014/main" id="{52E5F9E0-CD20-1D65-9C24-42B3F29E1B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969432"/>
            <a:ext cx="12192000" cy="7560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8120E0-8191-DB0B-B7BA-797D8FEA3B98}"/>
              </a:ext>
            </a:extLst>
          </p:cNvPr>
          <p:cNvSpPr txBox="1"/>
          <p:nvPr/>
        </p:nvSpPr>
        <p:spPr>
          <a:xfrm>
            <a:off x="883010" y="4698678"/>
            <a:ext cx="1017379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• Kernel slides across the input image and computes a dot product for each 3×3 region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• The same 9 kernel weights are reused across the entire image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• Valid convolution (no padding) reduces output to (M−2) × (N−2)</a:t>
            </a:r>
            <a:endParaRPr lang="en-US"/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4823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9825D-E031-6CCD-CDD4-7D7CFB54F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Architecture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0AC5717-6004-1C0B-C554-F7E69890B9B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30" y="2220859"/>
            <a:ext cx="5130532" cy="364823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FF0F21-83A7-74FD-0AF7-EBC60D74B6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/>
              <a:t> In/Out FIFO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/>
              <a:t>Manage for output Backpressure through line buffer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 </a:t>
            </a:r>
            <a:r>
              <a:rPr lang="en-US" err="1"/>
              <a:t>cf</a:t>
            </a:r>
            <a:r>
              <a:rPr lang="en-US"/>
              <a:t> mem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/>
              <a:t>Stores config information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 Line Buffer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/>
              <a:t>Perpetually loading rows of matrix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 Mac &amp; Truncate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/>
              <a:t>Performs the computation and clipping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Bit packer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/>
              <a:t>8-to-32-bit packer</a:t>
            </a:r>
          </a:p>
        </p:txBody>
      </p:sp>
    </p:spTree>
    <p:extLst>
      <p:ext uri="{BB962C8B-B14F-4D97-AF65-F5344CB8AC3E}">
        <p14:creationId xmlns:p14="http://schemas.microsoft.com/office/powerpoint/2010/main" val="3990629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777ED1-17F0-E485-BB19-E825F18EA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CF(Config) Memory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A73992-7864-EBCB-2DE6-0419905BB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3180643"/>
            <a:ext cx="10058400" cy="2591508"/>
          </a:xfrm>
        </p:spPr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/>
              <a:t>First 4 transfers go to CF memory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/>
              <a:t>Elements in row from 0 – 64 to include 0 – 60 supported size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/>
              <a:t>Number of rows from 0 – 1024 to include 0 – 1023 rows support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/>
              <a:t>All K’s are 8-bit signed integers so each are 9 bits.</a:t>
            </a:r>
          </a:p>
        </p:txBody>
      </p:sp>
      <p:graphicFrame>
        <p:nvGraphicFramePr>
          <p:cNvPr id="13" name="Content Placeholder 9">
            <a:extLst>
              <a:ext uri="{FF2B5EF4-FFF2-40B4-BE49-F238E27FC236}">
                <a16:creationId xmlns:a16="http://schemas.microsoft.com/office/drawing/2014/main" id="{5D60F3B0-3C96-B10E-8EAB-34C5C186CB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7887480"/>
              </p:ext>
            </p:extLst>
          </p:nvPr>
        </p:nvGraphicFramePr>
        <p:xfrm>
          <a:off x="1089024" y="1529308"/>
          <a:ext cx="10058400" cy="1448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4325">
                  <a:extLst>
                    <a:ext uri="{9D8B030D-6E8A-4147-A177-3AD203B41FA5}">
                      <a16:colId xmlns:a16="http://schemas.microsoft.com/office/drawing/2014/main" val="389064084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3548747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31844626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120352594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17248946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822352439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157275062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1302135135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41398561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154820618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544747757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385191339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359299628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1931965829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800826468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1126866547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36964902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381031938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97374555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98423979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308657938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4077612985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74504916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1700594327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1593868516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3296337026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206253039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40883213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32646766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185620971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301760770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247989422"/>
                    </a:ext>
                  </a:extLst>
                </a:gridCol>
              </a:tblGrid>
              <a:tr h="2897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31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30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29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28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27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26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25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24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23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22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21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20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19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18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17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16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15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14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13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12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11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10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9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8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7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6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5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4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3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2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extLst>
                  <a:ext uri="{0D108BD9-81ED-4DB2-BD59-A6C34878D82A}">
                    <a16:rowId xmlns:a16="http://schemas.microsoft.com/office/drawing/2014/main" val="607051472"/>
                  </a:ext>
                </a:extLst>
              </a:tr>
              <a:tr h="289768">
                <a:tc gridSpan="1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Reserved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Number of Rows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elements in a row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390312"/>
                  </a:ext>
                </a:extLst>
              </a:tr>
              <a:tr h="289768"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Reserved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K02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k01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K00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104773"/>
                  </a:ext>
                </a:extLst>
              </a:tr>
              <a:tr h="289768"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Reserved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K12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 k11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K10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494526"/>
                  </a:ext>
                </a:extLst>
              </a:tr>
              <a:tr h="289768"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Reserved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K22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k21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K20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50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396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456BA-9638-662D-2819-4B40F1D89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 Buffer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B12A6-FBAA-6695-C0A6-1C572FF77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 Receives 32 bit every cycle </a:t>
            </a:r>
          </a:p>
          <a:p>
            <a:r>
              <a:rPr lang="en-US"/>
              <a:t> Stores it as 8 bit elements</a:t>
            </a:r>
          </a:p>
          <a:p>
            <a:r>
              <a:rPr lang="en-US"/>
              <a:t> Async  access to  3 elements at a time from each row</a:t>
            </a:r>
          </a:p>
          <a:p>
            <a:r>
              <a:rPr lang="en-US"/>
              <a:t> 4 total rows, access 3 at a time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7CA56D-33CE-B829-3AE1-7D76DDB54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2970" y="1539277"/>
            <a:ext cx="3841750" cy="265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422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4DD16-CA11-1F4A-A019-02E562FCD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 Buffer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A59E6-F462-CCD6-17D0-F6CF76A27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Line buffer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72BECF-7DB6-A176-73E6-91D11D0CB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Reference Matrix &amp; computation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3AFA2CC-356F-12AC-95F6-14D478043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519903"/>
              </p:ext>
            </p:extLst>
          </p:nvPr>
        </p:nvGraphicFramePr>
        <p:xfrm>
          <a:off x="7099298" y="2361371"/>
          <a:ext cx="3194051" cy="27608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6293">
                  <a:extLst>
                    <a:ext uri="{9D8B030D-6E8A-4147-A177-3AD203B41FA5}">
                      <a16:colId xmlns:a16="http://schemas.microsoft.com/office/drawing/2014/main" val="2141084444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2199241672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1591230297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2443581428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4021399538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1228376816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3927150541"/>
                    </a:ext>
                  </a:extLst>
                </a:gridCol>
              </a:tblGrid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187355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303550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532580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869289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674058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549722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690848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4F0F7E3B-41C5-EEBA-BCAF-5A54E7939751}"/>
              </a:ext>
            </a:extLst>
          </p:cNvPr>
          <p:cNvSpPr/>
          <p:nvPr/>
        </p:nvSpPr>
        <p:spPr>
          <a:xfrm>
            <a:off x="7099298" y="2361371"/>
            <a:ext cx="3194051" cy="1182372"/>
          </a:xfrm>
          <a:custGeom>
            <a:avLst/>
            <a:gdLst>
              <a:gd name="csX0" fmla="*/ 0 w 3194051"/>
              <a:gd name="csY0" fmla="*/ 0 h 1182372"/>
              <a:gd name="csX1" fmla="*/ 532342 w 3194051"/>
              <a:gd name="csY1" fmla="*/ 0 h 1182372"/>
              <a:gd name="csX2" fmla="*/ 1000803 w 3194051"/>
              <a:gd name="csY2" fmla="*/ 0 h 1182372"/>
              <a:gd name="csX3" fmla="*/ 1565085 w 3194051"/>
              <a:gd name="csY3" fmla="*/ 0 h 1182372"/>
              <a:gd name="csX4" fmla="*/ 2129367 w 3194051"/>
              <a:gd name="csY4" fmla="*/ 0 h 1182372"/>
              <a:gd name="csX5" fmla="*/ 2725590 w 3194051"/>
              <a:gd name="csY5" fmla="*/ 0 h 1182372"/>
              <a:gd name="csX6" fmla="*/ 3194051 w 3194051"/>
              <a:gd name="csY6" fmla="*/ 0 h 1182372"/>
              <a:gd name="csX7" fmla="*/ 3194051 w 3194051"/>
              <a:gd name="csY7" fmla="*/ 614833 h 1182372"/>
              <a:gd name="csX8" fmla="*/ 3194051 w 3194051"/>
              <a:gd name="csY8" fmla="*/ 1182372 h 1182372"/>
              <a:gd name="csX9" fmla="*/ 2693650 w 3194051"/>
              <a:gd name="csY9" fmla="*/ 1182372 h 1182372"/>
              <a:gd name="csX10" fmla="*/ 2097427 w 3194051"/>
              <a:gd name="csY10" fmla="*/ 1182372 h 1182372"/>
              <a:gd name="csX11" fmla="*/ 1660907 w 3194051"/>
              <a:gd name="csY11" fmla="*/ 1182372 h 1182372"/>
              <a:gd name="csX12" fmla="*/ 1224386 w 3194051"/>
              <a:gd name="csY12" fmla="*/ 1182372 h 1182372"/>
              <a:gd name="csX13" fmla="*/ 755925 w 3194051"/>
              <a:gd name="csY13" fmla="*/ 1182372 h 1182372"/>
              <a:gd name="csX14" fmla="*/ 0 w 3194051"/>
              <a:gd name="csY14" fmla="*/ 1182372 h 1182372"/>
              <a:gd name="csX15" fmla="*/ 0 w 3194051"/>
              <a:gd name="csY15" fmla="*/ 591186 h 1182372"/>
              <a:gd name="csX16" fmla="*/ 0 w 3194051"/>
              <a:gd name="csY16" fmla="*/ 0 h 11823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194051" h="1182372" extrusionOk="0">
                <a:moveTo>
                  <a:pt x="0" y="0"/>
                </a:moveTo>
                <a:cubicBezTo>
                  <a:pt x="149580" y="-36598"/>
                  <a:pt x="362360" y="34309"/>
                  <a:pt x="532342" y="0"/>
                </a:cubicBezTo>
                <a:cubicBezTo>
                  <a:pt x="702324" y="-34309"/>
                  <a:pt x="839689" y="50094"/>
                  <a:pt x="1000803" y="0"/>
                </a:cubicBezTo>
                <a:cubicBezTo>
                  <a:pt x="1161917" y="-50094"/>
                  <a:pt x="1418622" y="19065"/>
                  <a:pt x="1565085" y="0"/>
                </a:cubicBezTo>
                <a:cubicBezTo>
                  <a:pt x="1711548" y="-19065"/>
                  <a:pt x="1948636" y="44885"/>
                  <a:pt x="2129367" y="0"/>
                </a:cubicBezTo>
                <a:cubicBezTo>
                  <a:pt x="2310098" y="-44885"/>
                  <a:pt x="2546219" y="38536"/>
                  <a:pt x="2725590" y="0"/>
                </a:cubicBezTo>
                <a:cubicBezTo>
                  <a:pt x="2904961" y="-38536"/>
                  <a:pt x="3048843" y="12510"/>
                  <a:pt x="3194051" y="0"/>
                </a:cubicBezTo>
                <a:cubicBezTo>
                  <a:pt x="3263045" y="228848"/>
                  <a:pt x="3147771" y="413293"/>
                  <a:pt x="3194051" y="614833"/>
                </a:cubicBezTo>
                <a:cubicBezTo>
                  <a:pt x="3240331" y="816373"/>
                  <a:pt x="3154100" y="1054386"/>
                  <a:pt x="3194051" y="1182372"/>
                </a:cubicBezTo>
                <a:cubicBezTo>
                  <a:pt x="3065412" y="1187749"/>
                  <a:pt x="2916892" y="1158158"/>
                  <a:pt x="2693650" y="1182372"/>
                </a:cubicBezTo>
                <a:cubicBezTo>
                  <a:pt x="2470408" y="1206586"/>
                  <a:pt x="2371451" y="1118259"/>
                  <a:pt x="2097427" y="1182372"/>
                </a:cubicBezTo>
                <a:cubicBezTo>
                  <a:pt x="1823403" y="1246485"/>
                  <a:pt x="1784380" y="1152421"/>
                  <a:pt x="1660907" y="1182372"/>
                </a:cubicBezTo>
                <a:cubicBezTo>
                  <a:pt x="1537434" y="1212323"/>
                  <a:pt x="1434745" y="1131208"/>
                  <a:pt x="1224386" y="1182372"/>
                </a:cubicBezTo>
                <a:cubicBezTo>
                  <a:pt x="1014027" y="1233536"/>
                  <a:pt x="948358" y="1158263"/>
                  <a:pt x="755925" y="1182372"/>
                </a:cubicBezTo>
                <a:cubicBezTo>
                  <a:pt x="563492" y="1206481"/>
                  <a:pt x="238568" y="1093966"/>
                  <a:pt x="0" y="1182372"/>
                </a:cubicBezTo>
                <a:cubicBezTo>
                  <a:pt x="-9575" y="991842"/>
                  <a:pt x="28865" y="818624"/>
                  <a:pt x="0" y="591186"/>
                </a:cubicBezTo>
                <a:cubicBezTo>
                  <a:pt x="-28865" y="363748"/>
                  <a:pt x="20380" y="120923"/>
                  <a:pt x="0" y="0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66129727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BEB2C93-0E53-8163-6CF6-27182234603C}"/>
              </a:ext>
            </a:extLst>
          </p:cNvPr>
          <p:cNvGrpSpPr/>
          <p:nvPr/>
        </p:nvGrpSpPr>
        <p:grpSpPr>
          <a:xfrm>
            <a:off x="7188200" y="2464243"/>
            <a:ext cx="1130300" cy="1016000"/>
            <a:chOff x="8959850" y="1003300"/>
            <a:chExt cx="1130300" cy="101600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7BBB2F6-487B-041C-3C9C-03E37AE2CCFB}"/>
                </a:ext>
              </a:extLst>
            </p:cNvPr>
            <p:cNvGrpSpPr/>
            <p:nvPr/>
          </p:nvGrpSpPr>
          <p:grpSpPr>
            <a:xfrm>
              <a:off x="8959850" y="1003300"/>
              <a:ext cx="1130300" cy="215900"/>
              <a:chOff x="8959850" y="1003300"/>
              <a:chExt cx="1130300" cy="21590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7A0DFE3-FD03-8F10-530B-E9E01B1E3443}"/>
                  </a:ext>
                </a:extLst>
              </p:cNvPr>
              <p:cNvSpPr/>
              <p:nvPr/>
            </p:nvSpPr>
            <p:spPr>
              <a:xfrm>
                <a:off x="8959850" y="100330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CB262B3-28B5-0C59-B326-29C5A0956C72}"/>
                  </a:ext>
                </a:extLst>
              </p:cNvPr>
              <p:cNvSpPr/>
              <p:nvPr/>
            </p:nvSpPr>
            <p:spPr>
              <a:xfrm>
                <a:off x="9398000" y="100330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BB832E1-52DC-0BCA-77DC-FA79A7854EF9}"/>
                  </a:ext>
                </a:extLst>
              </p:cNvPr>
              <p:cNvSpPr/>
              <p:nvPr/>
            </p:nvSpPr>
            <p:spPr>
              <a:xfrm>
                <a:off x="9836150" y="100330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1BB0995-A612-3E23-0C5A-1518D7FCFDA1}"/>
                </a:ext>
              </a:extLst>
            </p:cNvPr>
            <p:cNvGrpSpPr/>
            <p:nvPr/>
          </p:nvGrpSpPr>
          <p:grpSpPr>
            <a:xfrm>
              <a:off x="8959850" y="1382818"/>
              <a:ext cx="1130300" cy="236432"/>
              <a:chOff x="8959850" y="1382818"/>
              <a:chExt cx="1130300" cy="236432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F4C9EA48-2EC4-4031-2129-3ED3DBB21C21}"/>
                  </a:ext>
                </a:extLst>
              </p:cNvPr>
              <p:cNvSpPr/>
              <p:nvPr/>
            </p:nvSpPr>
            <p:spPr>
              <a:xfrm>
                <a:off x="8959850" y="140335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DF2B6E4-FE18-B61A-0946-CD614447A016}"/>
                  </a:ext>
                </a:extLst>
              </p:cNvPr>
              <p:cNvSpPr/>
              <p:nvPr/>
            </p:nvSpPr>
            <p:spPr>
              <a:xfrm>
                <a:off x="9398000" y="140335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46836DC-79DC-4DC3-0016-D5EEA504BA36}"/>
                  </a:ext>
                </a:extLst>
              </p:cNvPr>
              <p:cNvSpPr/>
              <p:nvPr/>
            </p:nvSpPr>
            <p:spPr>
              <a:xfrm>
                <a:off x="9836150" y="1382818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BFDFD4C-C5C2-D3A3-1973-04EACE6D3110}"/>
                </a:ext>
              </a:extLst>
            </p:cNvPr>
            <p:cNvGrpSpPr/>
            <p:nvPr/>
          </p:nvGrpSpPr>
          <p:grpSpPr>
            <a:xfrm>
              <a:off x="8959850" y="1770168"/>
              <a:ext cx="1130300" cy="249132"/>
              <a:chOff x="8959850" y="1770168"/>
              <a:chExt cx="1130300" cy="249132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7F56DB4B-9839-79F9-A054-6F631A0A5E9D}"/>
                  </a:ext>
                </a:extLst>
              </p:cNvPr>
              <p:cNvSpPr/>
              <p:nvPr/>
            </p:nvSpPr>
            <p:spPr>
              <a:xfrm>
                <a:off x="8959850" y="180340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F2F8186-3F02-6C26-A59B-37FDEBC178F2}"/>
                  </a:ext>
                </a:extLst>
              </p:cNvPr>
              <p:cNvSpPr/>
              <p:nvPr/>
            </p:nvSpPr>
            <p:spPr>
              <a:xfrm>
                <a:off x="9398000" y="1770168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4D5F594-F0D4-71DC-63D0-C240C8705353}"/>
                  </a:ext>
                </a:extLst>
              </p:cNvPr>
              <p:cNvSpPr/>
              <p:nvPr/>
            </p:nvSpPr>
            <p:spPr>
              <a:xfrm>
                <a:off x="9836150" y="1785409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CE03A3E6-F13D-C83F-53DF-439D7511D6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513492"/>
              </p:ext>
            </p:extLst>
          </p:nvPr>
        </p:nvGraphicFramePr>
        <p:xfrm>
          <a:off x="1114168" y="2746956"/>
          <a:ext cx="485060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943">
                  <a:extLst>
                    <a:ext uri="{9D8B030D-6E8A-4147-A177-3AD203B41FA5}">
                      <a16:colId xmlns:a16="http://schemas.microsoft.com/office/drawing/2014/main" val="3843977417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2411988745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4152385683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301530424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60725127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57435613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410956602"/>
                    </a:ext>
                  </a:extLst>
                </a:gridCol>
              </a:tblGrid>
              <a:tr h="35124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443792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9E1D6F47-978A-165C-23A3-647CD1740C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223771"/>
              </p:ext>
            </p:extLst>
          </p:nvPr>
        </p:nvGraphicFramePr>
        <p:xfrm>
          <a:off x="1114168" y="3246914"/>
          <a:ext cx="485060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943">
                  <a:extLst>
                    <a:ext uri="{9D8B030D-6E8A-4147-A177-3AD203B41FA5}">
                      <a16:colId xmlns:a16="http://schemas.microsoft.com/office/drawing/2014/main" val="3843977417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2411988745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4152385683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301530424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60725127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57435613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410956602"/>
                    </a:ext>
                  </a:extLst>
                </a:gridCol>
              </a:tblGrid>
              <a:tr h="351240"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443792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02011DCD-F80F-1D2D-BB42-9363B18A5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625779"/>
              </p:ext>
            </p:extLst>
          </p:nvPr>
        </p:nvGraphicFramePr>
        <p:xfrm>
          <a:off x="1114168" y="3741792"/>
          <a:ext cx="485060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943">
                  <a:extLst>
                    <a:ext uri="{9D8B030D-6E8A-4147-A177-3AD203B41FA5}">
                      <a16:colId xmlns:a16="http://schemas.microsoft.com/office/drawing/2014/main" val="3843977417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2411988745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4152385683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301530424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60725127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57435613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410956602"/>
                    </a:ext>
                  </a:extLst>
                </a:gridCol>
              </a:tblGrid>
              <a:tr h="351240">
                <a:tc>
                  <a:txBody>
                    <a:bodyPr/>
                    <a:lstStyle/>
                    <a:p>
                      <a:r>
                        <a:rPr lang="en-US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443792"/>
                  </a:ext>
                </a:extLst>
              </a:tr>
            </a:tbl>
          </a:graphicData>
        </a:graphic>
      </p:graphicFrame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885620B3-9A97-6BAD-B783-28E3B677F9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379617"/>
              </p:ext>
            </p:extLst>
          </p:nvPr>
        </p:nvGraphicFramePr>
        <p:xfrm>
          <a:off x="1114168" y="4236670"/>
          <a:ext cx="4850601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92943">
                  <a:extLst>
                    <a:ext uri="{9D8B030D-6E8A-4147-A177-3AD203B41FA5}">
                      <a16:colId xmlns:a16="http://schemas.microsoft.com/office/drawing/2014/main" val="3313022153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581144133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40097271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70973385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6746120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199805095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4286624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5572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1248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2" presetClass="path" presetSubtype="0" accel="50000" fill="hold" nodeType="withEffect" p14:presetBounceEnd="1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E-6 -3.7037E-7 L 0.03476 -3.7037E-7 " pathEditMode="fixed" rAng="0" ptsTypes="AA" p14:bounceEnd="10000">
                                          <p:cBhvr>
                                            <p:cTn id="9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32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" presetID="42" presetClass="path" presetSubtype="0" accel="50000" fill="hold" nodeType="withEffect" p14:presetBounceEnd="10000">
                                      <p:stCondLst>
                                        <p:cond delay="200"/>
                                      </p:stCondLst>
                                      <p:childTnLst>
                                        <p:animMotion origin="layout" path="M 0.03476 -3.33333E-6 L 0.07148 -3.33333E-6 " pathEditMode="relative" rAng="0" ptsTypes="AA" p14:bounceEnd="10000">
                                          <p:cBhvr>
                                            <p:cTn id="11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836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42" presetClass="path" presetSubtype="0" accel="50000" fill="hold" nodeType="withEffect" p14:presetBounceEnd="10000">
                                      <p:stCondLst>
                                        <p:cond delay="400"/>
                                      </p:stCondLst>
                                      <p:childTnLst>
                                        <p:animMotion origin="layout" path="M 0.07148 -3.33333E-6 L 0.11146 -3.33333E-6 " pathEditMode="relative" rAng="0" ptsTypes="AA" p14:bounceEnd="10000">
                                          <p:cBhvr>
                                            <p:cTn id="13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992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" presetID="42" presetClass="path" presetSubtype="0" accel="50000" fill="hold" nodeType="withEffect" p14:presetBounceEnd="10000">
                                      <p:stCondLst>
                                        <p:cond delay="600"/>
                                      </p:stCondLst>
                                      <p:childTnLst>
                                        <p:animMotion origin="layout" path="M 0.11146 -3.33333E-6 L 0.14974 -0.00162 " pathEditMode="relative" rAng="0" ptsTypes="AA" p14:bounceEnd="10000">
                                          <p:cBhvr>
                                            <p:cTn id="15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914" y="-9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2" presetClass="path" presetSubtype="0" ac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E-6 -3.7037E-7 L 0.03476 -3.7037E-7 " pathEditMode="fixed" rAng="0" ptsTypes="AA">
                                          <p:cBhvr>
                                            <p:cTn id="9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32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" presetID="42" presetClass="path" presetSubtype="0" accel="50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animMotion origin="layout" path="M 0.03476 -3.33333E-6 L 0.07148 -3.33333E-6 " pathEditMode="relative" rAng="0" ptsTypes="AA">
                                          <p:cBhvr>
                                            <p:cTn id="11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836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42" presetClass="path" presetSubtype="0" accel="50000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animMotion origin="layout" path="M 0.07148 -3.33333E-6 L 0.11146 -3.33333E-6 " pathEditMode="relative" rAng="0" ptsTypes="AA">
                                          <p:cBhvr>
                                            <p:cTn id="13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992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" presetID="42" presetClass="path" presetSubtype="0" ac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animMotion origin="layout" path="M 0.11146 -3.33333E-6 L 0.14974 -0.00162 " pathEditMode="relative" rAng="0" ptsTypes="AA">
                                          <p:cBhvr>
                                            <p:cTn id="15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914" y="-9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10A26-B14C-2AF5-7AC6-197760B76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B7C13-9C98-DF1F-454A-5172AB77D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 Buffer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48542-D9F9-C52F-80E2-DEB561D84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Line buffer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ADEA96-16D9-122B-33AD-D52261AAB5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Reference Matrix &amp; computation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C713D9C-B5A1-9209-0442-2C81B686655B}"/>
              </a:ext>
            </a:extLst>
          </p:cNvPr>
          <p:cNvGraphicFramePr>
            <a:graphicFrameLocks noGrp="1"/>
          </p:cNvGraphicFramePr>
          <p:nvPr/>
        </p:nvGraphicFramePr>
        <p:xfrm>
          <a:off x="7099298" y="2361371"/>
          <a:ext cx="3194051" cy="27608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6293">
                  <a:extLst>
                    <a:ext uri="{9D8B030D-6E8A-4147-A177-3AD203B41FA5}">
                      <a16:colId xmlns:a16="http://schemas.microsoft.com/office/drawing/2014/main" val="2141084444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2199241672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1591230297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2443581428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4021399538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1228376816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3927150541"/>
                    </a:ext>
                  </a:extLst>
                </a:gridCol>
              </a:tblGrid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187355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303550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532580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869289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674058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549722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690848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2E945A4B-548A-0637-9CA7-8949C7409913}"/>
              </a:ext>
            </a:extLst>
          </p:cNvPr>
          <p:cNvSpPr/>
          <p:nvPr/>
        </p:nvSpPr>
        <p:spPr>
          <a:xfrm>
            <a:off x="7089774" y="2747875"/>
            <a:ext cx="3194051" cy="1182372"/>
          </a:xfrm>
          <a:custGeom>
            <a:avLst/>
            <a:gdLst>
              <a:gd name="csX0" fmla="*/ 0 w 3194051"/>
              <a:gd name="csY0" fmla="*/ 0 h 1182372"/>
              <a:gd name="csX1" fmla="*/ 532342 w 3194051"/>
              <a:gd name="csY1" fmla="*/ 0 h 1182372"/>
              <a:gd name="csX2" fmla="*/ 1000803 w 3194051"/>
              <a:gd name="csY2" fmla="*/ 0 h 1182372"/>
              <a:gd name="csX3" fmla="*/ 1565085 w 3194051"/>
              <a:gd name="csY3" fmla="*/ 0 h 1182372"/>
              <a:gd name="csX4" fmla="*/ 2129367 w 3194051"/>
              <a:gd name="csY4" fmla="*/ 0 h 1182372"/>
              <a:gd name="csX5" fmla="*/ 2725590 w 3194051"/>
              <a:gd name="csY5" fmla="*/ 0 h 1182372"/>
              <a:gd name="csX6" fmla="*/ 3194051 w 3194051"/>
              <a:gd name="csY6" fmla="*/ 0 h 1182372"/>
              <a:gd name="csX7" fmla="*/ 3194051 w 3194051"/>
              <a:gd name="csY7" fmla="*/ 614833 h 1182372"/>
              <a:gd name="csX8" fmla="*/ 3194051 w 3194051"/>
              <a:gd name="csY8" fmla="*/ 1182372 h 1182372"/>
              <a:gd name="csX9" fmla="*/ 2693650 w 3194051"/>
              <a:gd name="csY9" fmla="*/ 1182372 h 1182372"/>
              <a:gd name="csX10" fmla="*/ 2097427 w 3194051"/>
              <a:gd name="csY10" fmla="*/ 1182372 h 1182372"/>
              <a:gd name="csX11" fmla="*/ 1660907 w 3194051"/>
              <a:gd name="csY11" fmla="*/ 1182372 h 1182372"/>
              <a:gd name="csX12" fmla="*/ 1224386 w 3194051"/>
              <a:gd name="csY12" fmla="*/ 1182372 h 1182372"/>
              <a:gd name="csX13" fmla="*/ 755925 w 3194051"/>
              <a:gd name="csY13" fmla="*/ 1182372 h 1182372"/>
              <a:gd name="csX14" fmla="*/ 0 w 3194051"/>
              <a:gd name="csY14" fmla="*/ 1182372 h 1182372"/>
              <a:gd name="csX15" fmla="*/ 0 w 3194051"/>
              <a:gd name="csY15" fmla="*/ 591186 h 1182372"/>
              <a:gd name="csX16" fmla="*/ 0 w 3194051"/>
              <a:gd name="csY16" fmla="*/ 0 h 11823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194051" h="1182372" extrusionOk="0">
                <a:moveTo>
                  <a:pt x="0" y="0"/>
                </a:moveTo>
                <a:cubicBezTo>
                  <a:pt x="149580" y="-36598"/>
                  <a:pt x="362360" y="34309"/>
                  <a:pt x="532342" y="0"/>
                </a:cubicBezTo>
                <a:cubicBezTo>
                  <a:pt x="702324" y="-34309"/>
                  <a:pt x="839689" y="50094"/>
                  <a:pt x="1000803" y="0"/>
                </a:cubicBezTo>
                <a:cubicBezTo>
                  <a:pt x="1161917" y="-50094"/>
                  <a:pt x="1418622" y="19065"/>
                  <a:pt x="1565085" y="0"/>
                </a:cubicBezTo>
                <a:cubicBezTo>
                  <a:pt x="1711548" y="-19065"/>
                  <a:pt x="1948636" y="44885"/>
                  <a:pt x="2129367" y="0"/>
                </a:cubicBezTo>
                <a:cubicBezTo>
                  <a:pt x="2310098" y="-44885"/>
                  <a:pt x="2546219" y="38536"/>
                  <a:pt x="2725590" y="0"/>
                </a:cubicBezTo>
                <a:cubicBezTo>
                  <a:pt x="2904961" y="-38536"/>
                  <a:pt x="3048843" y="12510"/>
                  <a:pt x="3194051" y="0"/>
                </a:cubicBezTo>
                <a:cubicBezTo>
                  <a:pt x="3263045" y="228848"/>
                  <a:pt x="3147771" y="413293"/>
                  <a:pt x="3194051" y="614833"/>
                </a:cubicBezTo>
                <a:cubicBezTo>
                  <a:pt x="3240331" y="816373"/>
                  <a:pt x="3154100" y="1054386"/>
                  <a:pt x="3194051" y="1182372"/>
                </a:cubicBezTo>
                <a:cubicBezTo>
                  <a:pt x="3065412" y="1187749"/>
                  <a:pt x="2916892" y="1158158"/>
                  <a:pt x="2693650" y="1182372"/>
                </a:cubicBezTo>
                <a:cubicBezTo>
                  <a:pt x="2470408" y="1206586"/>
                  <a:pt x="2371451" y="1118259"/>
                  <a:pt x="2097427" y="1182372"/>
                </a:cubicBezTo>
                <a:cubicBezTo>
                  <a:pt x="1823403" y="1246485"/>
                  <a:pt x="1784380" y="1152421"/>
                  <a:pt x="1660907" y="1182372"/>
                </a:cubicBezTo>
                <a:cubicBezTo>
                  <a:pt x="1537434" y="1212323"/>
                  <a:pt x="1434745" y="1131208"/>
                  <a:pt x="1224386" y="1182372"/>
                </a:cubicBezTo>
                <a:cubicBezTo>
                  <a:pt x="1014027" y="1233536"/>
                  <a:pt x="948358" y="1158263"/>
                  <a:pt x="755925" y="1182372"/>
                </a:cubicBezTo>
                <a:cubicBezTo>
                  <a:pt x="563492" y="1206481"/>
                  <a:pt x="238568" y="1093966"/>
                  <a:pt x="0" y="1182372"/>
                </a:cubicBezTo>
                <a:cubicBezTo>
                  <a:pt x="-9575" y="991842"/>
                  <a:pt x="28865" y="818624"/>
                  <a:pt x="0" y="591186"/>
                </a:cubicBezTo>
                <a:cubicBezTo>
                  <a:pt x="-28865" y="363748"/>
                  <a:pt x="20380" y="120923"/>
                  <a:pt x="0" y="0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66129727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BB64E29-3508-8165-1F23-2700EC09606D}"/>
              </a:ext>
            </a:extLst>
          </p:cNvPr>
          <p:cNvGrpSpPr/>
          <p:nvPr/>
        </p:nvGrpSpPr>
        <p:grpSpPr>
          <a:xfrm>
            <a:off x="7181850" y="2831061"/>
            <a:ext cx="1130300" cy="1016000"/>
            <a:chOff x="8959850" y="1003300"/>
            <a:chExt cx="1130300" cy="101600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CC548C2-998F-FD9C-ED59-6973722F7A57}"/>
                </a:ext>
              </a:extLst>
            </p:cNvPr>
            <p:cNvGrpSpPr/>
            <p:nvPr/>
          </p:nvGrpSpPr>
          <p:grpSpPr>
            <a:xfrm>
              <a:off x="8959850" y="1003300"/>
              <a:ext cx="1130300" cy="215900"/>
              <a:chOff x="8959850" y="1003300"/>
              <a:chExt cx="1130300" cy="21590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FCAF3DB-5303-6FEB-CF2E-64D4529D75E4}"/>
                  </a:ext>
                </a:extLst>
              </p:cNvPr>
              <p:cNvSpPr/>
              <p:nvPr/>
            </p:nvSpPr>
            <p:spPr>
              <a:xfrm>
                <a:off x="8959850" y="100330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3AE61BB0-33A8-E98C-E64B-FDDE1F4CBBEB}"/>
                  </a:ext>
                </a:extLst>
              </p:cNvPr>
              <p:cNvSpPr/>
              <p:nvPr/>
            </p:nvSpPr>
            <p:spPr>
              <a:xfrm>
                <a:off x="9398000" y="100330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5F858807-DF6B-838E-59A1-EE079AA1BE6D}"/>
                  </a:ext>
                </a:extLst>
              </p:cNvPr>
              <p:cNvSpPr/>
              <p:nvPr/>
            </p:nvSpPr>
            <p:spPr>
              <a:xfrm>
                <a:off x="9836150" y="100330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3D13DB4-7B8F-6BCE-EF31-796C53EF62D6}"/>
                </a:ext>
              </a:extLst>
            </p:cNvPr>
            <p:cNvGrpSpPr/>
            <p:nvPr/>
          </p:nvGrpSpPr>
          <p:grpSpPr>
            <a:xfrm>
              <a:off x="8959850" y="1382818"/>
              <a:ext cx="1130300" cy="236432"/>
              <a:chOff x="8959850" y="1382818"/>
              <a:chExt cx="1130300" cy="236432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F2FBFC4C-FB3B-A3ED-4164-CE1FFE07F232}"/>
                  </a:ext>
                </a:extLst>
              </p:cNvPr>
              <p:cNvSpPr/>
              <p:nvPr/>
            </p:nvSpPr>
            <p:spPr>
              <a:xfrm>
                <a:off x="8959850" y="140335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C00C037-A999-D8AD-F92D-ED81A058DBE9}"/>
                  </a:ext>
                </a:extLst>
              </p:cNvPr>
              <p:cNvSpPr/>
              <p:nvPr/>
            </p:nvSpPr>
            <p:spPr>
              <a:xfrm>
                <a:off x="9398000" y="140335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AF4446D-459C-67AF-9227-6EEC8AA84060}"/>
                  </a:ext>
                </a:extLst>
              </p:cNvPr>
              <p:cNvSpPr/>
              <p:nvPr/>
            </p:nvSpPr>
            <p:spPr>
              <a:xfrm>
                <a:off x="9836150" y="1382818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FDB99C7-F9A6-19EB-5DC4-47F456479116}"/>
                </a:ext>
              </a:extLst>
            </p:cNvPr>
            <p:cNvGrpSpPr/>
            <p:nvPr/>
          </p:nvGrpSpPr>
          <p:grpSpPr>
            <a:xfrm>
              <a:off x="8959850" y="1770168"/>
              <a:ext cx="1130300" cy="249132"/>
              <a:chOff x="8959850" y="1770168"/>
              <a:chExt cx="1130300" cy="249132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C5D7E5C1-793E-A936-6307-600D484D6909}"/>
                  </a:ext>
                </a:extLst>
              </p:cNvPr>
              <p:cNvSpPr/>
              <p:nvPr/>
            </p:nvSpPr>
            <p:spPr>
              <a:xfrm>
                <a:off x="8959850" y="180340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884D790-DB87-A54F-C4D7-B631D9A432C8}"/>
                  </a:ext>
                </a:extLst>
              </p:cNvPr>
              <p:cNvSpPr/>
              <p:nvPr/>
            </p:nvSpPr>
            <p:spPr>
              <a:xfrm>
                <a:off x="9398000" y="1770168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ED1A53B-BAD0-A83D-E6F9-809F18AE5B82}"/>
                  </a:ext>
                </a:extLst>
              </p:cNvPr>
              <p:cNvSpPr/>
              <p:nvPr/>
            </p:nvSpPr>
            <p:spPr>
              <a:xfrm>
                <a:off x="9836150" y="1785409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4C5D7BE5-4593-4DF9-0A40-894ECE0B2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819601"/>
              </p:ext>
            </p:extLst>
          </p:nvPr>
        </p:nvGraphicFramePr>
        <p:xfrm>
          <a:off x="1114168" y="2746956"/>
          <a:ext cx="4850601" cy="365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92943">
                  <a:extLst>
                    <a:ext uri="{9D8B030D-6E8A-4147-A177-3AD203B41FA5}">
                      <a16:colId xmlns:a16="http://schemas.microsoft.com/office/drawing/2014/main" val="3843977417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2411988745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4152385683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301530424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60725127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57435613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410956602"/>
                    </a:ext>
                  </a:extLst>
                </a:gridCol>
              </a:tblGrid>
              <a:tr h="351240">
                <a:tc>
                  <a:txBody>
                    <a:bodyPr/>
                    <a:lstStyle/>
                    <a:p>
                      <a:r>
                        <a:rPr lang="en-US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443792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F03A46D1-921C-2385-BBCD-ACD6B9C98AD9}"/>
              </a:ext>
            </a:extLst>
          </p:cNvPr>
          <p:cNvGraphicFramePr>
            <a:graphicFrameLocks noGrp="1"/>
          </p:cNvGraphicFramePr>
          <p:nvPr/>
        </p:nvGraphicFramePr>
        <p:xfrm>
          <a:off x="1114168" y="3246914"/>
          <a:ext cx="485060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943">
                  <a:extLst>
                    <a:ext uri="{9D8B030D-6E8A-4147-A177-3AD203B41FA5}">
                      <a16:colId xmlns:a16="http://schemas.microsoft.com/office/drawing/2014/main" val="3843977417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2411988745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4152385683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301530424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60725127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57435613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410956602"/>
                    </a:ext>
                  </a:extLst>
                </a:gridCol>
              </a:tblGrid>
              <a:tr h="351240"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443792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EC84B8DE-6EEE-6C6A-5E60-9D99CEE00419}"/>
              </a:ext>
            </a:extLst>
          </p:cNvPr>
          <p:cNvGraphicFramePr>
            <a:graphicFrameLocks noGrp="1"/>
          </p:cNvGraphicFramePr>
          <p:nvPr/>
        </p:nvGraphicFramePr>
        <p:xfrm>
          <a:off x="1114168" y="3741792"/>
          <a:ext cx="485060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943">
                  <a:extLst>
                    <a:ext uri="{9D8B030D-6E8A-4147-A177-3AD203B41FA5}">
                      <a16:colId xmlns:a16="http://schemas.microsoft.com/office/drawing/2014/main" val="3843977417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2411988745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4152385683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301530424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60725127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57435613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410956602"/>
                    </a:ext>
                  </a:extLst>
                </a:gridCol>
              </a:tblGrid>
              <a:tr h="351240">
                <a:tc>
                  <a:txBody>
                    <a:bodyPr/>
                    <a:lstStyle/>
                    <a:p>
                      <a:r>
                        <a:rPr lang="en-US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443792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F9CA3A07-F1A6-ADC1-6709-6F753E484E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019776"/>
              </p:ext>
            </p:extLst>
          </p:nvPr>
        </p:nvGraphicFramePr>
        <p:xfrm>
          <a:off x="1114168" y="4236670"/>
          <a:ext cx="48506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943">
                  <a:extLst>
                    <a:ext uri="{9D8B030D-6E8A-4147-A177-3AD203B41FA5}">
                      <a16:colId xmlns:a16="http://schemas.microsoft.com/office/drawing/2014/main" val="3127205869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456365938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404871837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437067220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7015423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320257131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714071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992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4288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"/>
    </mc:Choice>
    <mc:Fallback xmlns="">
      <p:transition advClick="0" advTm="1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2" presetClass="path" presetSubtype="0" accel="50000" fill="hold" nodeType="withEffect" p14:presetBounceEnd="1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4.44444E-6 L 0.03476 4.44444E-6 " pathEditMode="fixed" rAng="0" ptsTypes="AA" p14:bounceEnd="10000">
                                          <p:cBhvr>
                                            <p:cTn id="9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32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" presetID="42" presetClass="path" presetSubtype="0" accel="50000" fill="hold" nodeType="withEffect" p14:presetBounceEnd="10000">
                                      <p:stCondLst>
                                        <p:cond delay="200"/>
                                      </p:stCondLst>
                                      <p:childTnLst>
                                        <p:animMotion origin="layout" path="M 0.03476 4.44444E-6 L 0.07148 4.44444E-6 " pathEditMode="relative" rAng="0" ptsTypes="AA" p14:bounceEnd="10000">
                                          <p:cBhvr>
                                            <p:cTn id="11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836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42" presetClass="path" presetSubtype="0" accel="50000" fill="hold" nodeType="withEffect" p14:presetBounceEnd="10000">
                                      <p:stCondLst>
                                        <p:cond delay="400"/>
                                      </p:stCondLst>
                                      <p:childTnLst>
                                        <p:animMotion origin="layout" path="M 0.07148 4.44444E-6 L 0.11146 4.44444E-6 " pathEditMode="relative" rAng="0" ptsTypes="AA" p14:bounceEnd="10000">
                                          <p:cBhvr>
                                            <p:cTn id="13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992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" presetID="42" presetClass="path" presetSubtype="0" accel="50000" fill="hold" nodeType="withEffect" p14:presetBounceEnd="10000">
                                      <p:stCondLst>
                                        <p:cond delay="600"/>
                                      </p:stCondLst>
                                      <p:childTnLst>
                                        <p:animMotion origin="layout" path="M 0.11146 4.44444E-6 L 0.14974 -0.00162 " pathEditMode="relative" rAng="0" ptsTypes="AA" p14:bounceEnd="10000">
                                          <p:cBhvr>
                                            <p:cTn id="15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914" y="-9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2" presetClass="path" presetSubtype="0" ac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4.44444E-6 L 0.03476 4.44444E-6 " pathEditMode="fixed" rAng="0" ptsTypes="AA">
                                          <p:cBhvr>
                                            <p:cTn id="9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32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" presetID="42" presetClass="path" presetSubtype="0" accel="50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animMotion origin="layout" path="M 0.03476 4.44444E-6 L 0.07148 4.44444E-6 " pathEditMode="relative" rAng="0" ptsTypes="AA">
                                          <p:cBhvr>
                                            <p:cTn id="11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836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42" presetClass="path" presetSubtype="0" accel="50000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animMotion origin="layout" path="M 0.07148 4.44444E-6 L 0.11146 4.44444E-6 " pathEditMode="relative" rAng="0" ptsTypes="AA">
                                          <p:cBhvr>
                                            <p:cTn id="13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992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" presetID="42" presetClass="path" presetSubtype="0" ac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animMotion origin="layout" path="M 0.11146 4.44444E-6 L 0.14974 -0.00162 " pathEditMode="relative" rAng="0" ptsTypes="AA">
                                          <p:cBhvr>
                                            <p:cTn id="15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914" y="-9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5641E-DAA7-710C-2FF0-335332A00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74B55-E520-CF6A-4560-810C4EF95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 Buffer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FBC0B-0323-F840-FAA2-C112BAAD4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Line buffer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22DE9C-F96E-7B03-ADD7-B9A47BE669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Reference Matrix &amp; computation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0455E4E-B042-94C7-2451-8792EA898FDA}"/>
              </a:ext>
            </a:extLst>
          </p:cNvPr>
          <p:cNvGraphicFramePr>
            <a:graphicFrameLocks noGrp="1"/>
          </p:cNvGraphicFramePr>
          <p:nvPr/>
        </p:nvGraphicFramePr>
        <p:xfrm>
          <a:off x="7099298" y="2361371"/>
          <a:ext cx="3194051" cy="27608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6293">
                  <a:extLst>
                    <a:ext uri="{9D8B030D-6E8A-4147-A177-3AD203B41FA5}">
                      <a16:colId xmlns:a16="http://schemas.microsoft.com/office/drawing/2014/main" val="2141084444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2199241672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1591230297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2443581428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4021399538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1228376816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3927150541"/>
                    </a:ext>
                  </a:extLst>
                </a:gridCol>
              </a:tblGrid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187355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303550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532580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869289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674058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549722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690848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17255E96-B494-670D-F79B-4C84A04442B8}"/>
              </a:ext>
            </a:extLst>
          </p:cNvPr>
          <p:cNvSpPr/>
          <p:nvPr/>
        </p:nvSpPr>
        <p:spPr>
          <a:xfrm>
            <a:off x="7099298" y="3150606"/>
            <a:ext cx="3194051" cy="1182372"/>
          </a:xfrm>
          <a:custGeom>
            <a:avLst/>
            <a:gdLst>
              <a:gd name="csX0" fmla="*/ 0 w 3194051"/>
              <a:gd name="csY0" fmla="*/ 0 h 1182372"/>
              <a:gd name="csX1" fmla="*/ 532342 w 3194051"/>
              <a:gd name="csY1" fmla="*/ 0 h 1182372"/>
              <a:gd name="csX2" fmla="*/ 1000803 w 3194051"/>
              <a:gd name="csY2" fmla="*/ 0 h 1182372"/>
              <a:gd name="csX3" fmla="*/ 1565085 w 3194051"/>
              <a:gd name="csY3" fmla="*/ 0 h 1182372"/>
              <a:gd name="csX4" fmla="*/ 2129367 w 3194051"/>
              <a:gd name="csY4" fmla="*/ 0 h 1182372"/>
              <a:gd name="csX5" fmla="*/ 2725590 w 3194051"/>
              <a:gd name="csY5" fmla="*/ 0 h 1182372"/>
              <a:gd name="csX6" fmla="*/ 3194051 w 3194051"/>
              <a:gd name="csY6" fmla="*/ 0 h 1182372"/>
              <a:gd name="csX7" fmla="*/ 3194051 w 3194051"/>
              <a:gd name="csY7" fmla="*/ 614833 h 1182372"/>
              <a:gd name="csX8" fmla="*/ 3194051 w 3194051"/>
              <a:gd name="csY8" fmla="*/ 1182372 h 1182372"/>
              <a:gd name="csX9" fmla="*/ 2693650 w 3194051"/>
              <a:gd name="csY9" fmla="*/ 1182372 h 1182372"/>
              <a:gd name="csX10" fmla="*/ 2097427 w 3194051"/>
              <a:gd name="csY10" fmla="*/ 1182372 h 1182372"/>
              <a:gd name="csX11" fmla="*/ 1660907 w 3194051"/>
              <a:gd name="csY11" fmla="*/ 1182372 h 1182372"/>
              <a:gd name="csX12" fmla="*/ 1224386 w 3194051"/>
              <a:gd name="csY12" fmla="*/ 1182372 h 1182372"/>
              <a:gd name="csX13" fmla="*/ 755925 w 3194051"/>
              <a:gd name="csY13" fmla="*/ 1182372 h 1182372"/>
              <a:gd name="csX14" fmla="*/ 0 w 3194051"/>
              <a:gd name="csY14" fmla="*/ 1182372 h 1182372"/>
              <a:gd name="csX15" fmla="*/ 0 w 3194051"/>
              <a:gd name="csY15" fmla="*/ 591186 h 1182372"/>
              <a:gd name="csX16" fmla="*/ 0 w 3194051"/>
              <a:gd name="csY16" fmla="*/ 0 h 11823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194051" h="1182372" extrusionOk="0">
                <a:moveTo>
                  <a:pt x="0" y="0"/>
                </a:moveTo>
                <a:cubicBezTo>
                  <a:pt x="149580" y="-36598"/>
                  <a:pt x="362360" y="34309"/>
                  <a:pt x="532342" y="0"/>
                </a:cubicBezTo>
                <a:cubicBezTo>
                  <a:pt x="702324" y="-34309"/>
                  <a:pt x="839689" y="50094"/>
                  <a:pt x="1000803" y="0"/>
                </a:cubicBezTo>
                <a:cubicBezTo>
                  <a:pt x="1161917" y="-50094"/>
                  <a:pt x="1418622" y="19065"/>
                  <a:pt x="1565085" y="0"/>
                </a:cubicBezTo>
                <a:cubicBezTo>
                  <a:pt x="1711548" y="-19065"/>
                  <a:pt x="1948636" y="44885"/>
                  <a:pt x="2129367" y="0"/>
                </a:cubicBezTo>
                <a:cubicBezTo>
                  <a:pt x="2310098" y="-44885"/>
                  <a:pt x="2546219" y="38536"/>
                  <a:pt x="2725590" y="0"/>
                </a:cubicBezTo>
                <a:cubicBezTo>
                  <a:pt x="2904961" y="-38536"/>
                  <a:pt x="3048843" y="12510"/>
                  <a:pt x="3194051" y="0"/>
                </a:cubicBezTo>
                <a:cubicBezTo>
                  <a:pt x="3263045" y="228848"/>
                  <a:pt x="3147771" y="413293"/>
                  <a:pt x="3194051" y="614833"/>
                </a:cubicBezTo>
                <a:cubicBezTo>
                  <a:pt x="3240331" y="816373"/>
                  <a:pt x="3154100" y="1054386"/>
                  <a:pt x="3194051" y="1182372"/>
                </a:cubicBezTo>
                <a:cubicBezTo>
                  <a:pt x="3065412" y="1187749"/>
                  <a:pt x="2916892" y="1158158"/>
                  <a:pt x="2693650" y="1182372"/>
                </a:cubicBezTo>
                <a:cubicBezTo>
                  <a:pt x="2470408" y="1206586"/>
                  <a:pt x="2371451" y="1118259"/>
                  <a:pt x="2097427" y="1182372"/>
                </a:cubicBezTo>
                <a:cubicBezTo>
                  <a:pt x="1823403" y="1246485"/>
                  <a:pt x="1784380" y="1152421"/>
                  <a:pt x="1660907" y="1182372"/>
                </a:cubicBezTo>
                <a:cubicBezTo>
                  <a:pt x="1537434" y="1212323"/>
                  <a:pt x="1434745" y="1131208"/>
                  <a:pt x="1224386" y="1182372"/>
                </a:cubicBezTo>
                <a:cubicBezTo>
                  <a:pt x="1014027" y="1233536"/>
                  <a:pt x="948358" y="1158263"/>
                  <a:pt x="755925" y="1182372"/>
                </a:cubicBezTo>
                <a:cubicBezTo>
                  <a:pt x="563492" y="1206481"/>
                  <a:pt x="238568" y="1093966"/>
                  <a:pt x="0" y="1182372"/>
                </a:cubicBezTo>
                <a:cubicBezTo>
                  <a:pt x="-9575" y="991842"/>
                  <a:pt x="28865" y="818624"/>
                  <a:pt x="0" y="591186"/>
                </a:cubicBezTo>
                <a:cubicBezTo>
                  <a:pt x="-28865" y="363748"/>
                  <a:pt x="20380" y="120923"/>
                  <a:pt x="0" y="0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66129727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DA21000-9121-26C9-5FE7-B8546E3AE5AE}"/>
              </a:ext>
            </a:extLst>
          </p:cNvPr>
          <p:cNvGrpSpPr/>
          <p:nvPr/>
        </p:nvGrpSpPr>
        <p:grpSpPr>
          <a:xfrm>
            <a:off x="7191374" y="3233792"/>
            <a:ext cx="1130300" cy="1016000"/>
            <a:chOff x="8959850" y="1003300"/>
            <a:chExt cx="1130300" cy="101600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33174CC-2A56-22A0-7288-3ADF063C4C23}"/>
                </a:ext>
              </a:extLst>
            </p:cNvPr>
            <p:cNvGrpSpPr/>
            <p:nvPr/>
          </p:nvGrpSpPr>
          <p:grpSpPr>
            <a:xfrm>
              <a:off x="8959850" y="1003300"/>
              <a:ext cx="1130300" cy="215900"/>
              <a:chOff x="8959850" y="1003300"/>
              <a:chExt cx="1130300" cy="21590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63B2278E-F3E3-73A6-4EAF-B05B08D9E844}"/>
                  </a:ext>
                </a:extLst>
              </p:cNvPr>
              <p:cNvSpPr/>
              <p:nvPr/>
            </p:nvSpPr>
            <p:spPr>
              <a:xfrm>
                <a:off x="8959850" y="100330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DAACBF4-C07B-7D25-B7C0-54A991392425}"/>
                  </a:ext>
                </a:extLst>
              </p:cNvPr>
              <p:cNvSpPr/>
              <p:nvPr/>
            </p:nvSpPr>
            <p:spPr>
              <a:xfrm>
                <a:off x="9398000" y="100330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0E1FD62-C72B-8770-8CFA-9D9C0E972012}"/>
                  </a:ext>
                </a:extLst>
              </p:cNvPr>
              <p:cNvSpPr/>
              <p:nvPr/>
            </p:nvSpPr>
            <p:spPr>
              <a:xfrm>
                <a:off x="9836150" y="100330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AB44119-8E06-CF62-B4B8-44B9459CB9CA}"/>
                </a:ext>
              </a:extLst>
            </p:cNvPr>
            <p:cNvGrpSpPr/>
            <p:nvPr/>
          </p:nvGrpSpPr>
          <p:grpSpPr>
            <a:xfrm>
              <a:off x="8959850" y="1382818"/>
              <a:ext cx="1130300" cy="236432"/>
              <a:chOff x="8959850" y="1382818"/>
              <a:chExt cx="1130300" cy="236432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4605D6FC-4D56-5487-1A89-C971F20567A0}"/>
                  </a:ext>
                </a:extLst>
              </p:cNvPr>
              <p:cNvSpPr/>
              <p:nvPr/>
            </p:nvSpPr>
            <p:spPr>
              <a:xfrm>
                <a:off x="8959850" y="140335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59FDD841-F601-1538-BB9B-237A95E02266}"/>
                  </a:ext>
                </a:extLst>
              </p:cNvPr>
              <p:cNvSpPr/>
              <p:nvPr/>
            </p:nvSpPr>
            <p:spPr>
              <a:xfrm>
                <a:off x="9398000" y="140335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53F95B5-8D2D-D1D9-3F49-479CF4262314}"/>
                  </a:ext>
                </a:extLst>
              </p:cNvPr>
              <p:cNvSpPr/>
              <p:nvPr/>
            </p:nvSpPr>
            <p:spPr>
              <a:xfrm>
                <a:off x="9836150" y="1382818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A6F525C-E213-CDA9-A0BD-4411AD7A4CF1}"/>
                </a:ext>
              </a:extLst>
            </p:cNvPr>
            <p:cNvGrpSpPr/>
            <p:nvPr/>
          </p:nvGrpSpPr>
          <p:grpSpPr>
            <a:xfrm>
              <a:off x="8959850" y="1770168"/>
              <a:ext cx="1130300" cy="249132"/>
              <a:chOff x="8959850" y="1770168"/>
              <a:chExt cx="1130300" cy="249132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46CCFD-AAC6-2209-FAB6-C5AEC5F16369}"/>
                  </a:ext>
                </a:extLst>
              </p:cNvPr>
              <p:cNvSpPr/>
              <p:nvPr/>
            </p:nvSpPr>
            <p:spPr>
              <a:xfrm>
                <a:off x="8959850" y="180340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ED46F70B-37E2-9DD3-4299-D88AFD22E20F}"/>
                  </a:ext>
                </a:extLst>
              </p:cNvPr>
              <p:cNvSpPr/>
              <p:nvPr/>
            </p:nvSpPr>
            <p:spPr>
              <a:xfrm>
                <a:off x="9398000" y="1770168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D5DEDFC1-F30A-6D32-62D8-5257CC3B4763}"/>
                  </a:ext>
                </a:extLst>
              </p:cNvPr>
              <p:cNvSpPr/>
              <p:nvPr/>
            </p:nvSpPr>
            <p:spPr>
              <a:xfrm>
                <a:off x="9836150" y="1785409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F8D77611-B18B-A642-39A4-41C84AFBC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983063"/>
              </p:ext>
            </p:extLst>
          </p:nvPr>
        </p:nvGraphicFramePr>
        <p:xfrm>
          <a:off x="1114168" y="2746956"/>
          <a:ext cx="485060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943">
                  <a:extLst>
                    <a:ext uri="{9D8B030D-6E8A-4147-A177-3AD203B41FA5}">
                      <a16:colId xmlns:a16="http://schemas.microsoft.com/office/drawing/2014/main" val="3843977417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2411988745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4152385683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301530424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60725127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57435613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410956602"/>
                    </a:ext>
                  </a:extLst>
                </a:gridCol>
              </a:tblGrid>
              <a:tr h="351240">
                <a:tc>
                  <a:txBody>
                    <a:bodyPr/>
                    <a:lstStyle/>
                    <a:p>
                      <a:r>
                        <a:rPr lang="en-US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443792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DEE090C8-9E5C-995D-C1A8-8A37BAB9DC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841015"/>
              </p:ext>
            </p:extLst>
          </p:nvPr>
        </p:nvGraphicFramePr>
        <p:xfrm>
          <a:off x="1114168" y="3246914"/>
          <a:ext cx="4850601" cy="365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92943">
                  <a:extLst>
                    <a:ext uri="{9D8B030D-6E8A-4147-A177-3AD203B41FA5}">
                      <a16:colId xmlns:a16="http://schemas.microsoft.com/office/drawing/2014/main" val="3843977417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2411988745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4152385683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301530424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60725127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57435613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410956602"/>
                    </a:ext>
                  </a:extLst>
                </a:gridCol>
              </a:tblGrid>
              <a:tr h="351240">
                <a:tc>
                  <a:txBody>
                    <a:bodyPr/>
                    <a:lstStyle/>
                    <a:p>
                      <a:r>
                        <a:rPr lang="en-US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443792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91C414BD-BB44-3D31-78C1-D01B770708EB}"/>
              </a:ext>
            </a:extLst>
          </p:cNvPr>
          <p:cNvGraphicFramePr>
            <a:graphicFrameLocks noGrp="1"/>
          </p:cNvGraphicFramePr>
          <p:nvPr/>
        </p:nvGraphicFramePr>
        <p:xfrm>
          <a:off x="1114168" y="3741792"/>
          <a:ext cx="485060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943">
                  <a:extLst>
                    <a:ext uri="{9D8B030D-6E8A-4147-A177-3AD203B41FA5}">
                      <a16:colId xmlns:a16="http://schemas.microsoft.com/office/drawing/2014/main" val="3843977417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2411988745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4152385683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301530424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60725127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57435613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410956602"/>
                    </a:ext>
                  </a:extLst>
                </a:gridCol>
              </a:tblGrid>
              <a:tr h="351240">
                <a:tc>
                  <a:txBody>
                    <a:bodyPr/>
                    <a:lstStyle/>
                    <a:p>
                      <a:r>
                        <a:rPr lang="en-US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443792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E226F3DD-D3CE-7A09-9CEB-5B694572F9BC}"/>
              </a:ext>
            </a:extLst>
          </p:cNvPr>
          <p:cNvGraphicFramePr>
            <a:graphicFrameLocks noGrp="1"/>
          </p:cNvGraphicFramePr>
          <p:nvPr/>
        </p:nvGraphicFramePr>
        <p:xfrm>
          <a:off x="1114168" y="4236670"/>
          <a:ext cx="48506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943">
                  <a:extLst>
                    <a:ext uri="{9D8B030D-6E8A-4147-A177-3AD203B41FA5}">
                      <a16:colId xmlns:a16="http://schemas.microsoft.com/office/drawing/2014/main" val="3127205869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456365938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404871837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437067220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7015423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320257131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714071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992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7579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"/>
    </mc:Choice>
    <mc:Fallback xmlns="">
      <p:transition advClick="0" advTm="1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2" presetClass="path" presetSubtype="0" accel="50000" fill="hold" nodeType="withEffect" p14:presetBounceEnd="1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8.33333E-7 -1.85185E-6 L 0.03476 -1.85185E-6 " pathEditMode="fixed" rAng="0" ptsTypes="AA" p14:bounceEnd="10000">
                                          <p:cBhvr>
                                            <p:cTn id="9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32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" presetID="42" presetClass="path" presetSubtype="0" accel="50000" fill="hold" nodeType="withEffect" p14:presetBounceEnd="10000">
                                      <p:stCondLst>
                                        <p:cond delay="200"/>
                                      </p:stCondLst>
                                      <p:childTnLst>
                                        <p:animMotion origin="layout" path="M 0.03476 -1.85185E-6 L 0.07148 -1.85185E-6 " pathEditMode="relative" rAng="0" ptsTypes="AA" p14:bounceEnd="10000">
                                          <p:cBhvr>
                                            <p:cTn id="11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836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42" presetClass="path" presetSubtype="0" accel="50000" fill="hold" nodeType="withEffect" p14:presetBounceEnd="10000">
                                      <p:stCondLst>
                                        <p:cond delay="400"/>
                                      </p:stCondLst>
                                      <p:childTnLst>
                                        <p:animMotion origin="layout" path="M 0.07148 -1.85185E-6 L 0.11146 -1.85185E-6 " pathEditMode="relative" rAng="0" ptsTypes="AA" p14:bounceEnd="10000">
                                          <p:cBhvr>
                                            <p:cTn id="13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992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" presetID="42" presetClass="path" presetSubtype="0" accel="50000" fill="hold" nodeType="withEffect" p14:presetBounceEnd="10000">
                                      <p:stCondLst>
                                        <p:cond delay="600"/>
                                      </p:stCondLst>
                                      <p:childTnLst>
                                        <p:animMotion origin="layout" path="M 0.11146 -1.85185E-6 L 0.14974 -0.00162 " pathEditMode="relative" rAng="0" ptsTypes="AA" p14:bounceEnd="10000">
                                          <p:cBhvr>
                                            <p:cTn id="15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914" y="-9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2" presetClass="path" presetSubtype="0" ac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8.33333E-7 -1.85185E-6 L 0.03476 -1.85185E-6 " pathEditMode="fixed" rAng="0" ptsTypes="AA">
                                          <p:cBhvr>
                                            <p:cTn id="9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32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" presetID="42" presetClass="path" presetSubtype="0" accel="50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animMotion origin="layout" path="M 0.03476 -1.85185E-6 L 0.07148 -1.85185E-6 " pathEditMode="relative" rAng="0" ptsTypes="AA">
                                          <p:cBhvr>
                                            <p:cTn id="11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836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42" presetClass="path" presetSubtype="0" accel="50000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animMotion origin="layout" path="M 0.07148 -1.85185E-6 L 0.11146 -1.85185E-6 " pathEditMode="relative" rAng="0" ptsTypes="AA">
                                          <p:cBhvr>
                                            <p:cTn id="13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992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" presetID="42" presetClass="path" presetSubtype="0" ac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animMotion origin="layout" path="M 0.11146 -1.85185E-6 L 0.14974 -0.00162 " pathEditMode="relative" rAng="0" ptsTypes="AA">
                                          <p:cBhvr>
                                            <p:cTn id="15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914" y="-9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17D4C-D756-0E78-615E-C4DCF8F25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8346D-D183-973E-2FBC-52A19AFE2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 Buffer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FFAD8-2AE4-458C-7F95-612F81B0A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Line buffer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FEA069-875E-C809-3DF5-E8FAAA079D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Reference Matrix &amp; computation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B7F8071-0341-CE39-BF80-DE82E7A2C155}"/>
              </a:ext>
            </a:extLst>
          </p:cNvPr>
          <p:cNvGraphicFramePr>
            <a:graphicFrameLocks noGrp="1"/>
          </p:cNvGraphicFramePr>
          <p:nvPr/>
        </p:nvGraphicFramePr>
        <p:xfrm>
          <a:off x="7099298" y="2361371"/>
          <a:ext cx="3194051" cy="27608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6293">
                  <a:extLst>
                    <a:ext uri="{9D8B030D-6E8A-4147-A177-3AD203B41FA5}">
                      <a16:colId xmlns:a16="http://schemas.microsoft.com/office/drawing/2014/main" val="2141084444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2199241672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1591230297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2443581428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4021399538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1228376816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3927150541"/>
                    </a:ext>
                  </a:extLst>
                </a:gridCol>
              </a:tblGrid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187355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303550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532580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869289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674058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549722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690848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26B1B57A-2033-006B-680F-F413DD8DE47D}"/>
              </a:ext>
            </a:extLst>
          </p:cNvPr>
          <p:cNvSpPr/>
          <p:nvPr/>
        </p:nvSpPr>
        <p:spPr>
          <a:xfrm>
            <a:off x="7099298" y="3569866"/>
            <a:ext cx="3194051" cy="1182372"/>
          </a:xfrm>
          <a:custGeom>
            <a:avLst/>
            <a:gdLst>
              <a:gd name="csX0" fmla="*/ 0 w 3194051"/>
              <a:gd name="csY0" fmla="*/ 0 h 1182372"/>
              <a:gd name="csX1" fmla="*/ 532342 w 3194051"/>
              <a:gd name="csY1" fmla="*/ 0 h 1182372"/>
              <a:gd name="csX2" fmla="*/ 1000803 w 3194051"/>
              <a:gd name="csY2" fmla="*/ 0 h 1182372"/>
              <a:gd name="csX3" fmla="*/ 1565085 w 3194051"/>
              <a:gd name="csY3" fmla="*/ 0 h 1182372"/>
              <a:gd name="csX4" fmla="*/ 2129367 w 3194051"/>
              <a:gd name="csY4" fmla="*/ 0 h 1182372"/>
              <a:gd name="csX5" fmla="*/ 2725590 w 3194051"/>
              <a:gd name="csY5" fmla="*/ 0 h 1182372"/>
              <a:gd name="csX6" fmla="*/ 3194051 w 3194051"/>
              <a:gd name="csY6" fmla="*/ 0 h 1182372"/>
              <a:gd name="csX7" fmla="*/ 3194051 w 3194051"/>
              <a:gd name="csY7" fmla="*/ 614833 h 1182372"/>
              <a:gd name="csX8" fmla="*/ 3194051 w 3194051"/>
              <a:gd name="csY8" fmla="*/ 1182372 h 1182372"/>
              <a:gd name="csX9" fmla="*/ 2693650 w 3194051"/>
              <a:gd name="csY9" fmla="*/ 1182372 h 1182372"/>
              <a:gd name="csX10" fmla="*/ 2097427 w 3194051"/>
              <a:gd name="csY10" fmla="*/ 1182372 h 1182372"/>
              <a:gd name="csX11" fmla="*/ 1660907 w 3194051"/>
              <a:gd name="csY11" fmla="*/ 1182372 h 1182372"/>
              <a:gd name="csX12" fmla="*/ 1224386 w 3194051"/>
              <a:gd name="csY12" fmla="*/ 1182372 h 1182372"/>
              <a:gd name="csX13" fmla="*/ 755925 w 3194051"/>
              <a:gd name="csY13" fmla="*/ 1182372 h 1182372"/>
              <a:gd name="csX14" fmla="*/ 0 w 3194051"/>
              <a:gd name="csY14" fmla="*/ 1182372 h 1182372"/>
              <a:gd name="csX15" fmla="*/ 0 w 3194051"/>
              <a:gd name="csY15" fmla="*/ 591186 h 1182372"/>
              <a:gd name="csX16" fmla="*/ 0 w 3194051"/>
              <a:gd name="csY16" fmla="*/ 0 h 11823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194051" h="1182372" extrusionOk="0">
                <a:moveTo>
                  <a:pt x="0" y="0"/>
                </a:moveTo>
                <a:cubicBezTo>
                  <a:pt x="149580" y="-36598"/>
                  <a:pt x="362360" y="34309"/>
                  <a:pt x="532342" y="0"/>
                </a:cubicBezTo>
                <a:cubicBezTo>
                  <a:pt x="702324" y="-34309"/>
                  <a:pt x="839689" y="50094"/>
                  <a:pt x="1000803" y="0"/>
                </a:cubicBezTo>
                <a:cubicBezTo>
                  <a:pt x="1161917" y="-50094"/>
                  <a:pt x="1418622" y="19065"/>
                  <a:pt x="1565085" y="0"/>
                </a:cubicBezTo>
                <a:cubicBezTo>
                  <a:pt x="1711548" y="-19065"/>
                  <a:pt x="1948636" y="44885"/>
                  <a:pt x="2129367" y="0"/>
                </a:cubicBezTo>
                <a:cubicBezTo>
                  <a:pt x="2310098" y="-44885"/>
                  <a:pt x="2546219" y="38536"/>
                  <a:pt x="2725590" y="0"/>
                </a:cubicBezTo>
                <a:cubicBezTo>
                  <a:pt x="2904961" y="-38536"/>
                  <a:pt x="3048843" y="12510"/>
                  <a:pt x="3194051" y="0"/>
                </a:cubicBezTo>
                <a:cubicBezTo>
                  <a:pt x="3263045" y="228848"/>
                  <a:pt x="3147771" y="413293"/>
                  <a:pt x="3194051" y="614833"/>
                </a:cubicBezTo>
                <a:cubicBezTo>
                  <a:pt x="3240331" y="816373"/>
                  <a:pt x="3154100" y="1054386"/>
                  <a:pt x="3194051" y="1182372"/>
                </a:cubicBezTo>
                <a:cubicBezTo>
                  <a:pt x="3065412" y="1187749"/>
                  <a:pt x="2916892" y="1158158"/>
                  <a:pt x="2693650" y="1182372"/>
                </a:cubicBezTo>
                <a:cubicBezTo>
                  <a:pt x="2470408" y="1206586"/>
                  <a:pt x="2371451" y="1118259"/>
                  <a:pt x="2097427" y="1182372"/>
                </a:cubicBezTo>
                <a:cubicBezTo>
                  <a:pt x="1823403" y="1246485"/>
                  <a:pt x="1784380" y="1152421"/>
                  <a:pt x="1660907" y="1182372"/>
                </a:cubicBezTo>
                <a:cubicBezTo>
                  <a:pt x="1537434" y="1212323"/>
                  <a:pt x="1434745" y="1131208"/>
                  <a:pt x="1224386" y="1182372"/>
                </a:cubicBezTo>
                <a:cubicBezTo>
                  <a:pt x="1014027" y="1233536"/>
                  <a:pt x="948358" y="1158263"/>
                  <a:pt x="755925" y="1182372"/>
                </a:cubicBezTo>
                <a:cubicBezTo>
                  <a:pt x="563492" y="1206481"/>
                  <a:pt x="238568" y="1093966"/>
                  <a:pt x="0" y="1182372"/>
                </a:cubicBezTo>
                <a:cubicBezTo>
                  <a:pt x="-9575" y="991842"/>
                  <a:pt x="28865" y="818624"/>
                  <a:pt x="0" y="591186"/>
                </a:cubicBezTo>
                <a:cubicBezTo>
                  <a:pt x="-28865" y="363748"/>
                  <a:pt x="20380" y="120923"/>
                  <a:pt x="0" y="0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66129727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E8FDF09-8CD6-6C26-F6D6-0B1C6ECA6B55}"/>
              </a:ext>
            </a:extLst>
          </p:cNvPr>
          <p:cNvGrpSpPr/>
          <p:nvPr/>
        </p:nvGrpSpPr>
        <p:grpSpPr>
          <a:xfrm>
            <a:off x="7191374" y="3653052"/>
            <a:ext cx="1130300" cy="1016000"/>
            <a:chOff x="8959850" y="1003300"/>
            <a:chExt cx="1130300" cy="101600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D67E2F6-B91F-B6DE-5D13-4D7F61BAF56F}"/>
                </a:ext>
              </a:extLst>
            </p:cNvPr>
            <p:cNvGrpSpPr/>
            <p:nvPr/>
          </p:nvGrpSpPr>
          <p:grpSpPr>
            <a:xfrm>
              <a:off x="8959850" y="1003300"/>
              <a:ext cx="1130300" cy="215900"/>
              <a:chOff x="8959850" y="1003300"/>
              <a:chExt cx="1130300" cy="21590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D4C6E7D-360F-EF44-24BF-AD4B6E123BC2}"/>
                  </a:ext>
                </a:extLst>
              </p:cNvPr>
              <p:cNvSpPr/>
              <p:nvPr/>
            </p:nvSpPr>
            <p:spPr>
              <a:xfrm>
                <a:off x="8959850" y="100330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0F89506B-988D-9B28-C0D0-C613442A132F}"/>
                  </a:ext>
                </a:extLst>
              </p:cNvPr>
              <p:cNvSpPr/>
              <p:nvPr/>
            </p:nvSpPr>
            <p:spPr>
              <a:xfrm>
                <a:off x="9398000" y="100330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E19DE4D-9198-D8E8-29B7-B69B1CCCBA23}"/>
                  </a:ext>
                </a:extLst>
              </p:cNvPr>
              <p:cNvSpPr/>
              <p:nvPr/>
            </p:nvSpPr>
            <p:spPr>
              <a:xfrm>
                <a:off x="9836150" y="100330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707CB7C-7566-6FFB-B1A3-BEEDF80DEF51}"/>
                </a:ext>
              </a:extLst>
            </p:cNvPr>
            <p:cNvGrpSpPr/>
            <p:nvPr/>
          </p:nvGrpSpPr>
          <p:grpSpPr>
            <a:xfrm>
              <a:off x="8959850" y="1382818"/>
              <a:ext cx="1130300" cy="236432"/>
              <a:chOff x="8959850" y="1382818"/>
              <a:chExt cx="1130300" cy="236432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6C6EB89-EC63-21FF-F5F8-0DFDC406F26F}"/>
                  </a:ext>
                </a:extLst>
              </p:cNvPr>
              <p:cNvSpPr/>
              <p:nvPr/>
            </p:nvSpPr>
            <p:spPr>
              <a:xfrm>
                <a:off x="8959850" y="140335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CD87FA8-BFD9-3F64-E433-54141CA295DE}"/>
                  </a:ext>
                </a:extLst>
              </p:cNvPr>
              <p:cNvSpPr/>
              <p:nvPr/>
            </p:nvSpPr>
            <p:spPr>
              <a:xfrm>
                <a:off x="9398000" y="140335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600F5C3-9511-AFD1-E20E-7DA4844E40BB}"/>
                  </a:ext>
                </a:extLst>
              </p:cNvPr>
              <p:cNvSpPr/>
              <p:nvPr/>
            </p:nvSpPr>
            <p:spPr>
              <a:xfrm>
                <a:off x="9836150" y="1382818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11BA900-536F-C3FF-0F79-D93B820C43EF}"/>
                </a:ext>
              </a:extLst>
            </p:cNvPr>
            <p:cNvGrpSpPr/>
            <p:nvPr/>
          </p:nvGrpSpPr>
          <p:grpSpPr>
            <a:xfrm>
              <a:off x="8959850" y="1770168"/>
              <a:ext cx="1130300" cy="249132"/>
              <a:chOff x="8959850" y="1770168"/>
              <a:chExt cx="1130300" cy="249132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4916E86-C2D9-3361-BCC9-B20434CB2859}"/>
                  </a:ext>
                </a:extLst>
              </p:cNvPr>
              <p:cNvSpPr/>
              <p:nvPr/>
            </p:nvSpPr>
            <p:spPr>
              <a:xfrm>
                <a:off x="8959850" y="180340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D45EF03F-B797-0937-7B61-92FCB1B1CFEA}"/>
                  </a:ext>
                </a:extLst>
              </p:cNvPr>
              <p:cNvSpPr/>
              <p:nvPr/>
            </p:nvSpPr>
            <p:spPr>
              <a:xfrm>
                <a:off x="9398000" y="1770168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ECE8DE87-D0A1-DA46-DA86-9557F27F71A7}"/>
                  </a:ext>
                </a:extLst>
              </p:cNvPr>
              <p:cNvSpPr/>
              <p:nvPr/>
            </p:nvSpPr>
            <p:spPr>
              <a:xfrm>
                <a:off x="9836150" y="1785409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0414E01E-7946-B1C4-C26B-AD8ED6EA4C11}"/>
              </a:ext>
            </a:extLst>
          </p:cNvPr>
          <p:cNvGraphicFramePr>
            <a:graphicFrameLocks noGrp="1"/>
          </p:cNvGraphicFramePr>
          <p:nvPr/>
        </p:nvGraphicFramePr>
        <p:xfrm>
          <a:off x="1114168" y="2746956"/>
          <a:ext cx="485060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943">
                  <a:extLst>
                    <a:ext uri="{9D8B030D-6E8A-4147-A177-3AD203B41FA5}">
                      <a16:colId xmlns:a16="http://schemas.microsoft.com/office/drawing/2014/main" val="3843977417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2411988745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4152385683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301530424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60725127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57435613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410956602"/>
                    </a:ext>
                  </a:extLst>
                </a:gridCol>
              </a:tblGrid>
              <a:tr h="351240">
                <a:tc>
                  <a:txBody>
                    <a:bodyPr/>
                    <a:lstStyle/>
                    <a:p>
                      <a:r>
                        <a:rPr lang="en-US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443792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9A81F2C6-9F6B-D1C4-C770-C6511BBCD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166087"/>
              </p:ext>
            </p:extLst>
          </p:nvPr>
        </p:nvGraphicFramePr>
        <p:xfrm>
          <a:off x="1114168" y="3246914"/>
          <a:ext cx="485060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943">
                  <a:extLst>
                    <a:ext uri="{9D8B030D-6E8A-4147-A177-3AD203B41FA5}">
                      <a16:colId xmlns:a16="http://schemas.microsoft.com/office/drawing/2014/main" val="3843977417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2411988745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4152385683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301530424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60725127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57435613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410956602"/>
                    </a:ext>
                  </a:extLst>
                </a:gridCol>
              </a:tblGrid>
              <a:tr h="351240">
                <a:tc>
                  <a:txBody>
                    <a:bodyPr/>
                    <a:lstStyle/>
                    <a:p>
                      <a:r>
                        <a:rPr lang="en-US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443792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3E0CF1DA-A090-C503-7D8C-A7D00A3E2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958823"/>
              </p:ext>
            </p:extLst>
          </p:nvPr>
        </p:nvGraphicFramePr>
        <p:xfrm>
          <a:off x="1114168" y="3741792"/>
          <a:ext cx="4850601" cy="365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92943">
                  <a:extLst>
                    <a:ext uri="{9D8B030D-6E8A-4147-A177-3AD203B41FA5}">
                      <a16:colId xmlns:a16="http://schemas.microsoft.com/office/drawing/2014/main" val="3843977417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2411988745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4152385683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301530424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60725127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57435613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410956602"/>
                    </a:ext>
                  </a:extLst>
                </a:gridCol>
              </a:tblGrid>
              <a:tr h="351240">
                <a:tc>
                  <a:txBody>
                    <a:bodyPr/>
                    <a:lstStyle/>
                    <a:p>
                      <a:r>
                        <a:rPr lang="en-US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443792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8029CE06-6B10-50F0-CC1A-72F026EBA690}"/>
              </a:ext>
            </a:extLst>
          </p:cNvPr>
          <p:cNvGraphicFramePr>
            <a:graphicFrameLocks noGrp="1"/>
          </p:cNvGraphicFramePr>
          <p:nvPr/>
        </p:nvGraphicFramePr>
        <p:xfrm>
          <a:off x="1114168" y="4236670"/>
          <a:ext cx="48506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943">
                  <a:extLst>
                    <a:ext uri="{9D8B030D-6E8A-4147-A177-3AD203B41FA5}">
                      <a16:colId xmlns:a16="http://schemas.microsoft.com/office/drawing/2014/main" val="3127205869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456365938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404871837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437067220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7015423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320257131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714071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992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1731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0"/>
    </mc:Choice>
    <mc:Fallback xmlns="">
      <p:transition advClick="0" advTm="1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2" presetClass="path" presetSubtype="0" accel="50000" fill="hold" nodeType="withEffect" p14:presetBounceEnd="1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08333E-6 1.11111E-6 L 0.03476 1.11111E-6 " pathEditMode="fixed" rAng="0" ptsTypes="AA" p14:bounceEnd="10000">
                                          <p:cBhvr>
                                            <p:cTn id="9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32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" presetID="42" presetClass="path" presetSubtype="0" accel="50000" fill="hold" nodeType="withEffect" p14:presetBounceEnd="10000">
                                      <p:stCondLst>
                                        <p:cond delay="200"/>
                                      </p:stCondLst>
                                      <p:childTnLst>
                                        <p:animMotion origin="layout" path="M 0.03476 -2.96296E-6 L 0.07148 -2.96296E-6 " pathEditMode="relative" rAng="0" ptsTypes="AA" p14:bounceEnd="10000">
                                          <p:cBhvr>
                                            <p:cTn id="11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836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42" presetClass="path" presetSubtype="0" accel="50000" fill="hold" nodeType="withEffect" p14:presetBounceEnd="10000">
                                      <p:stCondLst>
                                        <p:cond delay="400"/>
                                      </p:stCondLst>
                                      <p:childTnLst>
                                        <p:animMotion origin="layout" path="M 0.07148 -2.96296E-6 L 0.11146 -2.96296E-6 " pathEditMode="relative" rAng="0" ptsTypes="AA" p14:bounceEnd="10000">
                                          <p:cBhvr>
                                            <p:cTn id="13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992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" presetID="42" presetClass="path" presetSubtype="0" accel="50000" fill="hold" nodeType="withEffect" p14:presetBounceEnd="10000">
                                      <p:stCondLst>
                                        <p:cond delay="600"/>
                                      </p:stCondLst>
                                      <p:childTnLst>
                                        <p:animMotion origin="layout" path="M 0.11146 -2.96296E-6 L 0.14974 -0.00162 " pathEditMode="relative" rAng="0" ptsTypes="AA" p14:bounceEnd="10000">
                                          <p:cBhvr>
                                            <p:cTn id="15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914" y="-9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2" presetClass="path" presetSubtype="0" ac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08333E-6 1.11111E-6 L 0.03476 1.11111E-6 " pathEditMode="fixed" rAng="0" ptsTypes="AA">
                                          <p:cBhvr>
                                            <p:cTn id="9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32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" presetID="42" presetClass="path" presetSubtype="0" accel="50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animMotion origin="layout" path="M 0.03476 -2.96296E-6 L 0.07148 -2.96296E-6 " pathEditMode="relative" rAng="0" ptsTypes="AA">
                                          <p:cBhvr>
                                            <p:cTn id="11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836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42" presetClass="path" presetSubtype="0" accel="50000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animMotion origin="layout" path="M 0.07148 -2.96296E-6 L 0.11146 -2.96296E-6 " pathEditMode="relative" rAng="0" ptsTypes="AA">
                                          <p:cBhvr>
                                            <p:cTn id="13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992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" presetID="42" presetClass="path" presetSubtype="0" ac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animMotion origin="layout" path="M 0.11146 -2.96296E-6 L 0.14974 -0.00162 " pathEditMode="relative" rAng="0" ptsTypes="AA">
                                          <p:cBhvr>
                                            <p:cTn id="15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914" y="-9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B5BE6-62C1-CB5F-C565-2A8AFF0EC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070C7-8A7E-47F1-B742-D08D3B073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 Buffer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72AA0-6B4E-A71A-2C6A-8914E8B31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Line buffer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60B5F8-1E05-07EC-C57A-8AAA80F03E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Reference Matrix &amp; computation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EF4B204-41DF-C7D3-7721-1A2436D4233D}"/>
              </a:ext>
            </a:extLst>
          </p:cNvPr>
          <p:cNvGraphicFramePr>
            <a:graphicFrameLocks noGrp="1"/>
          </p:cNvGraphicFramePr>
          <p:nvPr/>
        </p:nvGraphicFramePr>
        <p:xfrm>
          <a:off x="7099298" y="2361371"/>
          <a:ext cx="3194051" cy="27608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6293">
                  <a:extLst>
                    <a:ext uri="{9D8B030D-6E8A-4147-A177-3AD203B41FA5}">
                      <a16:colId xmlns:a16="http://schemas.microsoft.com/office/drawing/2014/main" val="2141084444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2199241672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1591230297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2443581428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4021399538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1228376816"/>
                    </a:ext>
                  </a:extLst>
                </a:gridCol>
                <a:gridCol w="456293">
                  <a:extLst>
                    <a:ext uri="{9D8B030D-6E8A-4147-A177-3AD203B41FA5}">
                      <a16:colId xmlns:a16="http://schemas.microsoft.com/office/drawing/2014/main" val="3927150541"/>
                    </a:ext>
                  </a:extLst>
                </a:gridCol>
              </a:tblGrid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187355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303550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532580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869289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674058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549722"/>
                  </a:ext>
                </a:extLst>
              </a:tr>
              <a:tr h="394406">
                <a:tc>
                  <a:txBody>
                    <a:bodyPr/>
                    <a:lstStyle/>
                    <a:p>
                      <a:r>
                        <a:rPr lang="en-US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690848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980E73C2-2091-A6FA-B3BF-DAB6741DC512}"/>
              </a:ext>
            </a:extLst>
          </p:cNvPr>
          <p:cNvSpPr/>
          <p:nvPr/>
        </p:nvSpPr>
        <p:spPr>
          <a:xfrm>
            <a:off x="7099298" y="3939841"/>
            <a:ext cx="3194051" cy="1182372"/>
          </a:xfrm>
          <a:custGeom>
            <a:avLst/>
            <a:gdLst>
              <a:gd name="csX0" fmla="*/ 0 w 3194051"/>
              <a:gd name="csY0" fmla="*/ 0 h 1182372"/>
              <a:gd name="csX1" fmla="*/ 532342 w 3194051"/>
              <a:gd name="csY1" fmla="*/ 0 h 1182372"/>
              <a:gd name="csX2" fmla="*/ 1000803 w 3194051"/>
              <a:gd name="csY2" fmla="*/ 0 h 1182372"/>
              <a:gd name="csX3" fmla="*/ 1565085 w 3194051"/>
              <a:gd name="csY3" fmla="*/ 0 h 1182372"/>
              <a:gd name="csX4" fmla="*/ 2129367 w 3194051"/>
              <a:gd name="csY4" fmla="*/ 0 h 1182372"/>
              <a:gd name="csX5" fmla="*/ 2725590 w 3194051"/>
              <a:gd name="csY5" fmla="*/ 0 h 1182372"/>
              <a:gd name="csX6" fmla="*/ 3194051 w 3194051"/>
              <a:gd name="csY6" fmla="*/ 0 h 1182372"/>
              <a:gd name="csX7" fmla="*/ 3194051 w 3194051"/>
              <a:gd name="csY7" fmla="*/ 614833 h 1182372"/>
              <a:gd name="csX8" fmla="*/ 3194051 w 3194051"/>
              <a:gd name="csY8" fmla="*/ 1182372 h 1182372"/>
              <a:gd name="csX9" fmla="*/ 2693650 w 3194051"/>
              <a:gd name="csY9" fmla="*/ 1182372 h 1182372"/>
              <a:gd name="csX10" fmla="*/ 2097427 w 3194051"/>
              <a:gd name="csY10" fmla="*/ 1182372 h 1182372"/>
              <a:gd name="csX11" fmla="*/ 1660907 w 3194051"/>
              <a:gd name="csY11" fmla="*/ 1182372 h 1182372"/>
              <a:gd name="csX12" fmla="*/ 1224386 w 3194051"/>
              <a:gd name="csY12" fmla="*/ 1182372 h 1182372"/>
              <a:gd name="csX13" fmla="*/ 755925 w 3194051"/>
              <a:gd name="csY13" fmla="*/ 1182372 h 1182372"/>
              <a:gd name="csX14" fmla="*/ 0 w 3194051"/>
              <a:gd name="csY14" fmla="*/ 1182372 h 1182372"/>
              <a:gd name="csX15" fmla="*/ 0 w 3194051"/>
              <a:gd name="csY15" fmla="*/ 591186 h 1182372"/>
              <a:gd name="csX16" fmla="*/ 0 w 3194051"/>
              <a:gd name="csY16" fmla="*/ 0 h 11823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194051" h="1182372" extrusionOk="0">
                <a:moveTo>
                  <a:pt x="0" y="0"/>
                </a:moveTo>
                <a:cubicBezTo>
                  <a:pt x="149580" y="-36598"/>
                  <a:pt x="362360" y="34309"/>
                  <a:pt x="532342" y="0"/>
                </a:cubicBezTo>
                <a:cubicBezTo>
                  <a:pt x="702324" y="-34309"/>
                  <a:pt x="839689" y="50094"/>
                  <a:pt x="1000803" y="0"/>
                </a:cubicBezTo>
                <a:cubicBezTo>
                  <a:pt x="1161917" y="-50094"/>
                  <a:pt x="1418622" y="19065"/>
                  <a:pt x="1565085" y="0"/>
                </a:cubicBezTo>
                <a:cubicBezTo>
                  <a:pt x="1711548" y="-19065"/>
                  <a:pt x="1948636" y="44885"/>
                  <a:pt x="2129367" y="0"/>
                </a:cubicBezTo>
                <a:cubicBezTo>
                  <a:pt x="2310098" y="-44885"/>
                  <a:pt x="2546219" y="38536"/>
                  <a:pt x="2725590" y="0"/>
                </a:cubicBezTo>
                <a:cubicBezTo>
                  <a:pt x="2904961" y="-38536"/>
                  <a:pt x="3048843" y="12510"/>
                  <a:pt x="3194051" y="0"/>
                </a:cubicBezTo>
                <a:cubicBezTo>
                  <a:pt x="3263045" y="228848"/>
                  <a:pt x="3147771" y="413293"/>
                  <a:pt x="3194051" y="614833"/>
                </a:cubicBezTo>
                <a:cubicBezTo>
                  <a:pt x="3240331" y="816373"/>
                  <a:pt x="3154100" y="1054386"/>
                  <a:pt x="3194051" y="1182372"/>
                </a:cubicBezTo>
                <a:cubicBezTo>
                  <a:pt x="3065412" y="1187749"/>
                  <a:pt x="2916892" y="1158158"/>
                  <a:pt x="2693650" y="1182372"/>
                </a:cubicBezTo>
                <a:cubicBezTo>
                  <a:pt x="2470408" y="1206586"/>
                  <a:pt x="2371451" y="1118259"/>
                  <a:pt x="2097427" y="1182372"/>
                </a:cubicBezTo>
                <a:cubicBezTo>
                  <a:pt x="1823403" y="1246485"/>
                  <a:pt x="1784380" y="1152421"/>
                  <a:pt x="1660907" y="1182372"/>
                </a:cubicBezTo>
                <a:cubicBezTo>
                  <a:pt x="1537434" y="1212323"/>
                  <a:pt x="1434745" y="1131208"/>
                  <a:pt x="1224386" y="1182372"/>
                </a:cubicBezTo>
                <a:cubicBezTo>
                  <a:pt x="1014027" y="1233536"/>
                  <a:pt x="948358" y="1158263"/>
                  <a:pt x="755925" y="1182372"/>
                </a:cubicBezTo>
                <a:cubicBezTo>
                  <a:pt x="563492" y="1206481"/>
                  <a:pt x="238568" y="1093966"/>
                  <a:pt x="0" y="1182372"/>
                </a:cubicBezTo>
                <a:cubicBezTo>
                  <a:pt x="-9575" y="991842"/>
                  <a:pt x="28865" y="818624"/>
                  <a:pt x="0" y="591186"/>
                </a:cubicBezTo>
                <a:cubicBezTo>
                  <a:pt x="-28865" y="363748"/>
                  <a:pt x="20380" y="120923"/>
                  <a:pt x="0" y="0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66129727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DE4EC92-BF0F-2E92-DA5B-B204935887E9}"/>
              </a:ext>
            </a:extLst>
          </p:cNvPr>
          <p:cNvGrpSpPr/>
          <p:nvPr/>
        </p:nvGrpSpPr>
        <p:grpSpPr>
          <a:xfrm>
            <a:off x="7191374" y="4023027"/>
            <a:ext cx="1130300" cy="1016000"/>
            <a:chOff x="8959850" y="1003300"/>
            <a:chExt cx="1130300" cy="101600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FE38130-8179-511E-1AE6-E97778E7822F}"/>
                </a:ext>
              </a:extLst>
            </p:cNvPr>
            <p:cNvGrpSpPr/>
            <p:nvPr/>
          </p:nvGrpSpPr>
          <p:grpSpPr>
            <a:xfrm>
              <a:off x="8959850" y="1003300"/>
              <a:ext cx="1130300" cy="215900"/>
              <a:chOff x="8959850" y="1003300"/>
              <a:chExt cx="1130300" cy="21590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1A2188F3-4726-DC87-414A-8AED437526FF}"/>
                  </a:ext>
                </a:extLst>
              </p:cNvPr>
              <p:cNvSpPr/>
              <p:nvPr/>
            </p:nvSpPr>
            <p:spPr>
              <a:xfrm>
                <a:off x="8959850" y="100330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D5744F53-7B17-4EC0-999E-FE2C8C425057}"/>
                  </a:ext>
                </a:extLst>
              </p:cNvPr>
              <p:cNvSpPr/>
              <p:nvPr/>
            </p:nvSpPr>
            <p:spPr>
              <a:xfrm>
                <a:off x="9398000" y="100330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18F7F8F-7AD8-255B-9D3B-B2CD8C2B43C9}"/>
                  </a:ext>
                </a:extLst>
              </p:cNvPr>
              <p:cNvSpPr/>
              <p:nvPr/>
            </p:nvSpPr>
            <p:spPr>
              <a:xfrm>
                <a:off x="9836150" y="100330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B67D792-AEA8-8AE8-4B58-235D70709E2C}"/>
                </a:ext>
              </a:extLst>
            </p:cNvPr>
            <p:cNvGrpSpPr/>
            <p:nvPr/>
          </p:nvGrpSpPr>
          <p:grpSpPr>
            <a:xfrm>
              <a:off x="8959850" y="1382818"/>
              <a:ext cx="1130300" cy="236432"/>
              <a:chOff x="8959850" y="1382818"/>
              <a:chExt cx="1130300" cy="236432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8CD75CD3-9FCC-033A-F06F-2A7B1181A093}"/>
                  </a:ext>
                </a:extLst>
              </p:cNvPr>
              <p:cNvSpPr/>
              <p:nvPr/>
            </p:nvSpPr>
            <p:spPr>
              <a:xfrm>
                <a:off x="8959850" y="140335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D6E0F551-0B1E-AEBD-779F-42EE265BC9EE}"/>
                  </a:ext>
                </a:extLst>
              </p:cNvPr>
              <p:cNvSpPr/>
              <p:nvPr/>
            </p:nvSpPr>
            <p:spPr>
              <a:xfrm>
                <a:off x="9398000" y="140335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9AB55B4-257D-DB63-8ABE-C170CB375B9A}"/>
                  </a:ext>
                </a:extLst>
              </p:cNvPr>
              <p:cNvSpPr/>
              <p:nvPr/>
            </p:nvSpPr>
            <p:spPr>
              <a:xfrm>
                <a:off x="9836150" y="1382818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8654F93-38B2-B724-A0D0-52B08B636CC0}"/>
                </a:ext>
              </a:extLst>
            </p:cNvPr>
            <p:cNvGrpSpPr/>
            <p:nvPr/>
          </p:nvGrpSpPr>
          <p:grpSpPr>
            <a:xfrm>
              <a:off x="8959850" y="1770168"/>
              <a:ext cx="1130300" cy="249132"/>
              <a:chOff x="8959850" y="1770168"/>
              <a:chExt cx="1130300" cy="249132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77D3F43-80C7-C364-31F5-6FB7F7AD8846}"/>
                  </a:ext>
                </a:extLst>
              </p:cNvPr>
              <p:cNvSpPr/>
              <p:nvPr/>
            </p:nvSpPr>
            <p:spPr>
              <a:xfrm>
                <a:off x="8959850" y="1803400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FDAC8AD-2937-DFBD-B0AA-B77CEEB5AEA2}"/>
                  </a:ext>
                </a:extLst>
              </p:cNvPr>
              <p:cNvSpPr/>
              <p:nvPr/>
            </p:nvSpPr>
            <p:spPr>
              <a:xfrm>
                <a:off x="9398000" y="1770168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447AA7C-067E-FD44-60AD-1F165F2B8BAF}"/>
                  </a:ext>
                </a:extLst>
              </p:cNvPr>
              <p:cNvSpPr/>
              <p:nvPr/>
            </p:nvSpPr>
            <p:spPr>
              <a:xfrm>
                <a:off x="9836150" y="1785409"/>
                <a:ext cx="254000" cy="2159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B80747C3-D9F7-699F-0ECA-EE2CDB95AAF5}"/>
              </a:ext>
            </a:extLst>
          </p:cNvPr>
          <p:cNvGraphicFramePr>
            <a:graphicFrameLocks noGrp="1"/>
          </p:cNvGraphicFramePr>
          <p:nvPr/>
        </p:nvGraphicFramePr>
        <p:xfrm>
          <a:off x="1114168" y="2746956"/>
          <a:ext cx="485060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943">
                  <a:extLst>
                    <a:ext uri="{9D8B030D-6E8A-4147-A177-3AD203B41FA5}">
                      <a16:colId xmlns:a16="http://schemas.microsoft.com/office/drawing/2014/main" val="3843977417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2411988745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4152385683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301530424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60725127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57435613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410956602"/>
                    </a:ext>
                  </a:extLst>
                </a:gridCol>
              </a:tblGrid>
              <a:tr h="351240">
                <a:tc>
                  <a:txBody>
                    <a:bodyPr/>
                    <a:lstStyle/>
                    <a:p>
                      <a:r>
                        <a:rPr lang="en-US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443792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D3267A98-3F34-56AC-2E42-7B5C2A7832A8}"/>
              </a:ext>
            </a:extLst>
          </p:cNvPr>
          <p:cNvGraphicFramePr>
            <a:graphicFrameLocks noGrp="1"/>
          </p:cNvGraphicFramePr>
          <p:nvPr/>
        </p:nvGraphicFramePr>
        <p:xfrm>
          <a:off x="1114168" y="3246914"/>
          <a:ext cx="485060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943">
                  <a:extLst>
                    <a:ext uri="{9D8B030D-6E8A-4147-A177-3AD203B41FA5}">
                      <a16:colId xmlns:a16="http://schemas.microsoft.com/office/drawing/2014/main" val="3843977417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2411988745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4152385683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301530424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60725127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57435613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410956602"/>
                    </a:ext>
                  </a:extLst>
                </a:gridCol>
              </a:tblGrid>
              <a:tr h="351240">
                <a:tc>
                  <a:txBody>
                    <a:bodyPr/>
                    <a:lstStyle/>
                    <a:p>
                      <a:r>
                        <a:rPr lang="en-US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443792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4E82EB87-5861-43EB-BC78-21FF9B7A0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708447"/>
              </p:ext>
            </p:extLst>
          </p:nvPr>
        </p:nvGraphicFramePr>
        <p:xfrm>
          <a:off x="1114168" y="3741792"/>
          <a:ext cx="485060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943">
                  <a:extLst>
                    <a:ext uri="{9D8B030D-6E8A-4147-A177-3AD203B41FA5}">
                      <a16:colId xmlns:a16="http://schemas.microsoft.com/office/drawing/2014/main" val="3843977417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2411988745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4152385683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301530424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60725127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57435613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410956602"/>
                    </a:ext>
                  </a:extLst>
                </a:gridCol>
              </a:tblGrid>
              <a:tr h="351240">
                <a:tc>
                  <a:txBody>
                    <a:bodyPr/>
                    <a:lstStyle/>
                    <a:p>
                      <a:r>
                        <a:rPr lang="en-US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443792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705ACFA-E159-8D77-11D0-FD7091F96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163239"/>
              </p:ext>
            </p:extLst>
          </p:nvPr>
        </p:nvGraphicFramePr>
        <p:xfrm>
          <a:off x="1114168" y="4236670"/>
          <a:ext cx="4850601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92943">
                  <a:extLst>
                    <a:ext uri="{9D8B030D-6E8A-4147-A177-3AD203B41FA5}">
                      <a16:colId xmlns:a16="http://schemas.microsoft.com/office/drawing/2014/main" val="3127205869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456365938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404871837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437067220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70154236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1320257131"/>
                    </a:ext>
                  </a:extLst>
                </a:gridCol>
                <a:gridCol w="692943">
                  <a:extLst>
                    <a:ext uri="{9D8B030D-6E8A-4147-A177-3AD203B41FA5}">
                      <a16:colId xmlns:a16="http://schemas.microsoft.com/office/drawing/2014/main" val="3714071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992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1752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2" presetClass="path" presetSubtype="0" accel="50000" fill="hold" nodeType="withEffect" p14:presetBounceEnd="1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08333E-6 2.22222E-6 L 0.03476 2.22222E-6 " pathEditMode="fixed" rAng="0" ptsTypes="AA" p14:bounceEnd="10000">
                                          <p:cBhvr>
                                            <p:cTn id="9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32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" presetID="42" presetClass="path" presetSubtype="0" accel="50000" fill="hold" nodeType="withEffect" p14:presetBounceEnd="10000">
                                      <p:stCondLst>
                                        <p:cond delay="200"/>
                                      </p:stCondLst>
                                      <p:childTnLst>
                                        <p:animMotion origin="layout" path="M 0.03476 1.85185E-6 L 0.07148 1.85185E-6 " pathEditMode="relative" rAng="0" ptsTypes="AA" p14:bounceEnd="10000">
                                          <p:cBhvr>
                                            <p:cTn id="11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836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42" presetClass="path" presetSubtype="0" accel="50000" fill="hold" nodeType="withEffect" p14:presetBounceEnd="10000">
                                      <p:stCondLst>
                                        <p:cond delay="400"/>
                                      </p:stCondLst>
                                      <p:childTnLst>
                                        <p:animMotion origin="layout" path="M 0.07148 1.85185E-6 L 0.11146 1.85185E-6 " pathEditMode="relative" rAng="0" ptsTypes="AA" p14:bounceEnd="10000">
                                          <p:cBhvr>
                                            <p:cTn id="13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992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" presetID="42" presetClass="path" presetSubtype="0" accel="50000" fill="hold" nodeType="withEffect" p14:presetBounceEnd="10000">
                                      <p:stCondLst>
                                        <p:cond delay="600"/>
                                      </p:stCondLst>
                                      <p:childTnLst>
                                        <p:animMotion origin="layout" path="M 0.11146 1.85185E-6 L 0.14974 -0.00162 " pathEditMode="relative" rAng="0" ptsTypes="AA" p14:bounceEnd="10000">
                                          <p:cBhvr>
                                            <p:cTn id="15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914" y="-9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2" presetClass="path" presetSubtype="0" ac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08333E-6 2.22222E-6 L 0.03476 2.22222E-6 " pathEditMode="fixed" rAng="0" ptsTypes="AA">
                                          <p:cBhvr>
                                            <p:cTn id="9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32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" presetID="42" presetClass="path" presetSubtype="0" accel="50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animMotion origin="layout" path="M 0.03476 1.85185E-6 L 0.07148 1.85185E-6 " pathEditMode="relative" rAng="0" ptsTypes="AA">
                                          <p:cBhvr>
                                            <p:cTn id="11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836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42" presetClass="path" presetSubtype="0" accel="50000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animMotion origin="layout" path="M 0.07148 1.85185E-6 L 0.11146 1.85185E-6 " pathEditMode="relative" rAng="0" ptsTypes="AA">
                                          <p:cBhvr>
                                            <p:cTn id="13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992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" presetID="42" presetClass="path" presetSubtype="0" ac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animMotion origin="layout" path="M 0.11146 1.85185E-6 L 0.14974 -0.00162 " pathEditMode="relative" rAng="0" ptsTypes="AA">
                                          <p:cBhvr>
                                            <p:cTn id="15" dur="2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914" y="-9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EA75F-F52E-DB3B-10DC-42C70CCA6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MAC and Truncate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95845-8578-387B-1F24-80BDF3A59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 4 stage pipelined</a:t>
            </a:r>
          </a:p>
          <a:p>
            <a:r>
              <a:rPr lang="en-US"/>
              <a:t> 9 multiplications</a:t>
            </a:r>
          </a:p>
          <a:p>
            <a:r>
              <a:rPr lang="en-US"/>
              <a:t> Additions </a:t>
            </a:r>
          </a:p>
          <a:p>
            <a:r>
              <a:rPr lang="en-US"/>
              <a:t> 0 - 255 Clipping</a:t>
            </a:r>
          </a:p>
          <a:p>
            <a:r>
              <a:rPr lang="en-US"/>
              <a:t> Answer valid signal</a:t>
            </a:r>
          </a:p>
          <a:p>
            <a:r>
              <a:rPr lang="en-US"/>
              <a:t> 1 pixel per cycle after pipeline fills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826EDE-5383-F1AF-59DB-F88FDA82B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643" y="1539277"/>
            <a:ext cx="3602037" cy="417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679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A6477-E2ED-840D-E130-D5D41F1CD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WB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47218-A716-AB1E-FEA7-D47FD61EA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758477"/>
            <a:ext cx="10058400" cy="2169123"/>
          </a:xfrm>
        </p:spPr>
        <p:txBody>
          <a:bodyPr/>
          <a:lstStyle/>
          <a:p>
            <a:r>
              <a:rPr lang="en-US"/>
              <a:t> (M X N) = (M – 2 X N – 2) </a:t>
            </a:r>
          </a:p>
          <a:p>
            <a:r>
              <a:rPr lang="en-US"/>
              <a:t>Limitation of %4 elements per row</a:t>
            </a:r>
          </a:p>
          <a:p>
            <a:r>
              <a:rPr lang="en-US"/>
              <a:t>Scalable number of rows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932B31-A7BA-B3D5-D630-C99272B03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466810"/>
              </p:ext>
            </p:extLst>
          </p:nvPr>
        </p:nvGraphicFramePr>
        <p:xfrm>
          <a:off x="1097280" y="1682750"/>
          <a:ext cx="10058400" cy="5651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4325">
                  <a:extLst>
                    <a:ext uri="{9D8B030D-6E8A-4147-A177-3AD203B41FA5}">
                      <a16:colId xmlns:a16="http://schemas.microsoft.com/office/drawing/2014/main" val="3492681966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372934284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30898718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354228756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401536860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1844974355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3366243477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429736818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133794387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1624001449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99044842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82791474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1140470179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205548495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374232359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85266874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414967374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139005959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2693159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1936014966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1609504755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3967410385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1354405828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3456610276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3618015505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8628650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4074591178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3650278414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79343638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29371436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27099812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954088539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31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30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29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28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27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26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25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24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23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22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21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20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19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18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17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16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15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14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13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12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11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10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9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8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7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6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5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4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3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2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1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0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extLst>
                  <a:ext uri="{0D108BD9-81ED-4DB2-BD59-A6C34878D82A}">
                    <a16:rowId xmlns:a16="http://schemas.microsoft.com/office/drawing/2014/main" val="2696766784"/>
                  </a:ext>
                </a:extLst>
              </a:tr>
              <a:tr h="282575">
                <a:tc gridSpan="8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Pixel 3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Pixel 2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Pixel 1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Pixel 0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11" marR="4911" marT="4911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552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4010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C507E9-D0ED-8402-C842-1859E7FAF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anchor="b">
            <a:normAutofit/>
          </a:bodyPr>
          <a:lstStyle/>
          <a:p>
            <a:r>
              <a:rPr lang="en-US"/>
              <a:t>Transaction example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8903E27F-95B3-6998-9F71-54D035AA289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810"/>
          <a:stretch>
            <a:fillRect/>
          </a:stretch>
        </p:blipFill>
        <p:spPr>
          <a:xfrm>
            <a:off x="15" y="10"/>
            <a:ext cx="12191985" cy="491506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01818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9AF1C-75A0-A2B6-287F-CC89E833B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Verification. 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BDA6A-B5DB-D149-5D61-DB18303FA4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Transactions generated in all supported sizes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Simulation depends on 100% Coverage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RTL verified for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B2B transactions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Supported images 16x16 to 60x60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5CC6ED2-D31A-2183-254C-64BBB1B4EE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7177" y="1846263"/>
            <a:ext cx="4819247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424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4CEE1-06C3-C279-5C68-6BBA77F94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Testbench Outputs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49EABC2-518C-4ACC-FF5E-1EE5F540D27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06" b="5706"/>
          <a:stretch>
            <a:fillRect/>
          </a:stretch>
        </p:blipFill>
        <p:spPr>
          <a:prstGeom prst="rect">
            <a:avLst/>
          </a:prstGeom>
          <a:solidFill>
            <a:srgbClr val="EAE5EB">
              <a:lumMod val="90000"/>
            </a:srgbClr>
          </a:solidFill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A3D229-B418-E7A1-24C2-9BFB0E762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020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DBD1A-8BCF-9254-52FF-516342A63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BD Implementation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A9CAECF-2B47-18B8-A794-1462FE19488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78" y="1631950"/>
            <a:ext cx="9997444" cy="416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889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B4061-DD3C-00D0-B555-0C8F257A1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49EC6-69E7-5DBA-66E3-3AAAB2BB6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BD Implementation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DE88AA-B892-CC66-8932-3DC8B1D35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24069" y="1651595"/>
            <a:ext cx="7230217" cy="19054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8D9D88-A37B-1D65-1FCD-2F6319E9B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3917950"/>
            <a:ext cx="6181160" cy="18563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05ADA4C-C91A-EF1F-11D5-D5E41CFAAF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767" y="1651595"/>
            <a:ext cx="3059093" cy="19558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F81FC4-AA66-8747-3FC9-EC1E76BAC6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79" b="25651"/>
          <a:stretch>
            <a:fillRect/>
          </a:stretch>
        </p:blipFill>
        <p:spPr>
          <a:xfrm>
            <a:off x="7451427" y="4428121"/>
            <a:ext cx="410286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81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832F3-3FF6-A24A-8585-F16BB1E13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Verification. 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2B1E6-6644-585F-E382-37368F8BF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968241" cy="4329817"/>
          </a:xfrm>
        </p:spPr>
        <p:txBody>
          <a:bodyPr/>
          <a:lstStyle/>
          <a:p>
            <a:r>
              <a:rPr lang="en-US"/>
              <a:t> Verified implemented design in </a:t>
            </a:r>
            <a:r>
              <a:rPr lang="en-US" err="1"/>
              <a:t>Hw</a:t>
            </a:r>
            <a:r>
              <a:rPr lang="en-US"/>
              <a:t>/</a:t>
            </a:r>
            <a:r>
              <a:rPr lang="en-US" err="1"/>
              <a:t>Sw</a:t>
            </a:r>
            <a:endParaRPr lang="en-US"/>
          </a:p>
          <a:p>
            <a:pPr lvl="1"/>
            <a:r>
              <a:rPr lang="en-US"/>
              <a:t>Test case verified against SciPy convoloution2d</a:t>
            </a:r>
          </a:p>
          <a:p>
            <a:pPr lvl="1"/>
            <a:r>
              <a:rPr lang="en-US"/>
              <a:t>Sustained test over 1hr for functionality  </a:t>
            </a:r>
          </a:p>
          <a:p>
            <a:r>
              <a:rPr lang="en-US"/>
              <a:t>If interested the log file can be read </a:t>
            </a:r>
            <a:r>
              <a:rPr lang="en-US">
                <a:hlinkClick r:id="rId2"/>
              </a:rPr>
              <a:t>here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F7A1E0-21AE-C854-54E7-5049B7455C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44"/>
          <a:stretch>
            <a:fillRect/>
          </a:stretch>
        </p:blipFill>
        <p:spPr>
          <a:xfrm>
            <a:off x="6126480" y="3916648"/>
            <a:ext cx="5620117" cy="16480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8F916D-AFE9-8E9E-4DD1-0561F79138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716317"/>
            <a:ext cx="5650597" cy="19878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549749-2B20-56C6-44DB-898D5E6EF96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1846" b="63003"/>
          <a:stretch>
            <a:fillRect/>
          </a:stretch>
        </p:blipFill>
        <p:spPr>
          <a:xfrm>
            <a:off x="1097280" y="3821397"/>
            <a:ext cx="3462020" cy="214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4154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25581-A172-9F0D-40B5-3575387C2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Benchmarking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152E6-0AF7-66EC-972A-36F72A130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Benchmarking done against CPU-only implementation using scipy.signal.convolve2d on an ARM Cortex-A9</a:t>
            </a:r>
            <a:endParaRPr lang="en-US"/>
          </a:p>
          <a:p>
            <a:r>
              <a:rPr lang="en-US">
                <a:ea typeface="Calibri"/>
                <a:cs typeface="Calibri"/>
              </a:rPr>
              <a:t>Two testcases:</a:t>
            </a:r>
          </a:p>
          <a:p>
            <a:pPr marL="383540" lvl="1">
              <a:buFont typeface="Courier New" panose="05000000000000000000" pitchFamily="2" charset="2"/>
              <a:buChar char="o"/>
            </a:pPr>
            <a:r>
              <a:rPr lang="en-US">
                <a:ea typeface="Calibri"/>
                <a:cs typeface="Calibri"/>
              </a:rPr>
              <a:t>A: Fixed width of 16 pixels, height varies 16 –&gt; 1000 pixels</a:t>
            </a:r>
          </a:p>
          <a:p>
            <a:pPr marL="383540" lvl="1">
              <a:buFont typeface="Courier New" panose="05000000000000000000" pitchFamily="2" charset="2"/>
              <a:buChar char="o"/>
            </a:pPr>
            <a:r>
              <a:rPr lang="en-US">
                <a:ea typeface="Calibri"/>
                <a:cs typeface="Calibri"/>
              </a:rPr>
              <a:t>B: Fixed width of 60 pixels, height varies 16 –&gt; 1000 pixels</a:t>
            </a:r>
          </a:p>
          <a:p>
            <a:r>
              <a:rPr lang="en-US">
                <a:ea typeface="Calibri"/>
                <a:cs typeface="Calibri"/>
              </a:rPr>
              <a:t>20,000 random input matrices with random 3x3 kernels for each test</a:t>
            </a:r>
          </a:p>
          <a:p>
            <a:r>
              <a:rPr lang="en-US">
                <a:ea typeface="Calibri"/>
                <a:cs typeface="Calibri"/>
              </a:rPr>
              <a:t>Only timing is measured</a:t>
            </a:r>
          </a:p>
          <a:p>
            <a:pPr marL="383540" lvl="1">
              <a:buFont typeface="Courier New" panose="05000000000000000000" pitchFamily="2" charset="2"/>
              <a:buChar char="o"/>
            </a:pPr>
            <a:r>
              <a:rPr lang="en-US">
                <a:ea typeface="Calibri"/>
                <a:cs typeface="Calibri"/>
              </a:rPr>
              <a:t>FPGA implementation includes DMA overhead – measures end-to-end accelerator times</a:t>
            </a: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8830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BA627-F734-ED18-6705-DB89F07E6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14831-62F8-312E-405A-88902C763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Benchmarking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331B5B-282B-6EAB-4A7F-434C7CA46E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63" y="1752539"/>
            <a:ext cx="10058400" cy="390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305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2F319-8B23-DD8E-26E5-1082F8EF9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Results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CFADF66-082A-628A-665C-03B66DF32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endParaRPr lang="en-US">
              <a:ea typeface="Calibri"/>
              <a:cs typeface="Calibri"/>
            </a:endParaRPr>
          </a:p>
        </p:txBody>
      </p:sp>
      <p:pic>
        <p:nvPicPr>
          <p:cNvPr id="8" name="Picture 7" descr="A black and white table with white text&#10;&#10;AI-generated content may be incorrect.">
            <a:extLst>
              <a:ext uri="{FF2B5EF4-FFF2-40B4-BE49-F238E27FC236}">
                <a16:creationId xmlns:a16="http://schemas.microsoft.com/office/drawing/2014/main" id="{34E93D3E-7C15-C1E2-5145-3875047DFD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250732" y="2272879"/>
            <a:ext cx="4767943" cy="3043140"/>
          </a:xfrm>
          <a:prstGeom prst="rect">
            <a:avLst/>
          </a:prstGeom>
        </p:spPr>
      </p:pic>
      <p:pic>
        <p:nvPicPr>
          <p:cNvPr id="10" name="Picture 9" descr="A close-up of a receipt&#10;&#10;AI-generated content may be incorrect.">
            <a:hlinkClick r:id="rId3"/>
            <a:extLst>
              <a:ext uri="{FF2B5EF4-FFF2-40B4-BE49-F238E27FC236}">
                <a16:creationId xmlns:a16="http://schemas.microsoft.com/office/drawing/2014/main" id="{F47B662E-9F19-44A2-52C0-E35C79DFD5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67" b="-671"/>
          <a:stretch>
            <a:fillRect/>
          </a:stretch>
        </p:blipFill>
        <p:spPr>
          <a:xfrm>
            <a:off x="960178" y="3208661"/>
            <a:ext cx="4649937" cy="117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1761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10B4E-47D5-FE72-95B6-438242ED7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Device Demo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DA84810-CDE0-9E84-6ABD-A47D53E5A5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277"/>
          <a:stretch>
            <a:fillRect/>
          </a:stretch>
        </p:blipFill>
        <p:spPr>
          <a:xfrm>
            <a:off x="6096000" y="1039540"/>
            <a:ext cx="4218502" cy="4778919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D144AB-9067-6D7F-37BE-FD84EBA1F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/>
              <a:t>Walk through the projects </a:t>
            </a:r>
            <a:r>
              <a:rPr lang="en-US" err="1"/>
              <a:t>demo.ipynb</a:t>
            </a:r>
            <a:r>
              <a:rPr lang="en-US"/>
              <a:t> to demonstrate the functioning of the device.</a:t>
            </a:r>
          </a:p>
        </p:txBody>
      </p:sp>
    </p:spTree>
    <p:extLst>
      <p:ext uri="{BB962C8B-B14F-4D97-AF65-F5344CB8AC3E}">
        <p14:creationId xmlns:p14="http://schemas.microsoft.com/office/powerpoint/2010/main" val="28409547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FA6AE-2334-11BC-F0AB-880DA407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4B259-0628-FFE5-650C-64AA408E5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 Multi channel (RGB) Support</a:t>
            </a:r>
          </a:p>
          <a:p>
            <a:pPr lvl="1"/>
            <a:r>
              <a:rPr lang="en-US"/>
              <a:t>Advantage of 4 possible AXIS channels to DMA</a:t>
            </a:r>
          </a:p>
          <a:p>
            <a:pPr lvl="1"/>
            <a:r>
              <a:rPr lang="en-US"/>
              <a:t>Better encoding of data, less wasted bits</a:t>
            </a:r>
          </a:p>
          <a:p>
            <a:r>
              <a:rPr lang="en-US"/>
              <a:t> Multi Core Design</a:t>
            </a:r>
          </a:p>
          <a:p>
            <a:pPr lvl="1"/>
            <a:r>
              <a:rPr lang="en-US"/>
              <a:t>Reduce lag between buffer fill and computation</a:t>
            </a:r>
          </a:p>
          <a:p>
            <a:r>
              <a:rPr lang="en-US"/>
              <a:t> Reduce Technical Debt</a:t>
            </a:r>
          </a:p>
          <a:p>
            <a:pPr lvl="1"/>
            <a:r>
              <a:rPr lang="en-US"/>
              <a:t>Approach design with new knowledge than current implementation</a:t>
            </a:r>
          </a:p>
          <a:p>
            <a:r>
              <a:rPr lang="en-US"/>
              <a:t> Higher Clock Frequency</a:t>
            </a:r>
          </a:p>
          <a:p>
            <a:pPr lvl="1"/>
            <a:r>
              <a:rPr lang="en-US"/>
              <a:t>Reduce timing paths, currently (BRAM -&gt; BUFFER -&gt; MAC)</a:t>
            </a:r>
          </a:p>
        </p:txBody>
      </p:sp>
    </p:spTree>
    <p:extLst>
      <p:ext uri="{BB962C8B-B14F-4D97-AF65-F5344CB8AC3E}">
        <p14:creationId xmlns:p14="http://schemas.microsoft.com/office/powerpoint/2010/main" val="3991224454"/>
      </p:ext>
    </p:extLst>
  </p:cSld>
  <p:clrMapOvr>
    <a:masterClrMapping/>
  </p:clrMapOvr>
</p:sld>
</file>

<file path=ppt/theme/theme1.xml><?xml version="1.0" encoding="utf-8"?>
<a:theme xmlns:a="http://schemas.openxmlformats.org/drawingml/2006/main" name="NYUpp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YUppt" id="{98C57211-B9EC-449A-8422-1678B8CA82DA}" vid="{D03B5311-9C26-4401-90C6-618AFD13BB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1047</Words>
  <Application>Microsoft Office PowerPoint</Application>
  <PresentationFormat>Widescreen</PresentationFormat>
  <Paragraphs>579</Paragraphs>
  <Slides>24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Aptos Narrow</vt:lpstr>
      <vt:lpstr>Arial</vt:lpstr>
      <vt:lpstr>Calibri</vt:lpstr>
      <vt:lpstr>Courier New</vt:lpstr>
      <vt:lpstr>Wingdings</vt:lpstr>
      <vt:lpstr>NYUppt</vt:lpstr>
      <vt:lpstr>2D Convolution Accelerator</vt:lpstr>
      <vt:lpstr>Overview</vt:lpstr>
      <vt:lpstr>2D Convolution</vt:lpstr>
      <vt:lpstr>Design Architecture</vt:lpstr>
      <vt:lpstr>CF(Config) Memory</vt:lpstr>
      <vt:lpstr>Line Buffer</vt:lpstr>
      <vt:lpstr>Line Buffer</vt:lpstr>
      <vt:lpstr>Line Buffer</vt:lpstr>
      <vt:lpstr>Line Buffer</vt:lpstr>
      <vt:lpstr>Line Buffer</vt:lpstr>
      <vt:lpstr>Line Buffer</vt:lpstr>
      <vt:lpstr>MAC and Truncate</vt:lpstr>
      <vt:lpstr>WB Message</vt:lpstr>
      <vt:lpstr>Transaction example</vt:lpstr>
      <vt:lpstr>Verification. A</vt:lpstr>
      <vt:lpstr>Testbench Outputs</vt:lpstr>
      <vt:lpstr>BD Implementation</vt:lpstr>
      <vt:lpstr>BD Implementation</vt:lpstr>
      <vt:lpstr>Verification. B</vt:lpstr>
      <vt:lpstr>Benchmarking</vt:lpstr>
      <vt:lpstr>Benchmarking</vt:lpstr>
      <vt:lpstr>Results</vt:lpstr>
      <vt:lpstr>Device Demo</vt:lpstr>
      <vt:lpstr>Future 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Dhruv Deshmukh</dc:creator>
  <cp:lastModifiedBy>Dhruv Deshmukh</cp:lastModifiedBy>
  <cp:revision>11</cp:revision>
  <dcterms:created xsi:type="dcterms:W3CDTF">2026-05-03T00:59:03Z</dcterms:created>
  <dcterms:modified xsi:type="dcterms:W3CDTF">2026-05-13T01:13:52Z</dcterms:modified>
</cp:coreProperties>
</file>